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Avg Spend (₹)</c:v>
                </c:pt>
              </c:strCache>
            </c:strRef>
          </c:tx>
          <c:spPr>
            <a:solidFill>
              <a:srgbClr val="1A1A2E"/>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1A1A2E"/>
              </a:solidFill>
              <a:effectLst/>
            </c:spPr>
          </c:dPt>
          <c:dPt>
            <c:idx val="1"/>
            <c:invertIfNegative val="0"/>
            <c:bubble3D val="0"/>
            <c:spPr>
              <a:solidFill>
                <a:srgbClr val="0F3460"/>
              </a:solidFill>
              <a:effectLst/>
            </c:spPr>
          </c:dPt>
          <c:dPt>
            <c:idx val="2"/>
            <c:invertIfNegative val="0"/>
            <c:bubble3D val="0"/>
            <c:spPr>
              <a:solidFill>
                <a:srgbClr val="117A65"/>
              </a:solidFill>
              <a:effectLst/>
            </c:spPr>
          </c:dPt>
          <c:dPt>
            <c:idx val="3"/>
            <c:invertIfNegative val="0"/>
            <c:bubble3D val="0"/>
            <c:spPr>
              <a:solidFill>
                <a:srgbClr val="C0392B"/>
              </a:solidFill>
              <a:effectLst/>
            </c:spPr>
          </c:dPt>
          <c:dPt>
            <c:idx val="4"/>
            <c:invertIfNegative val="0"/>
            <c:bubble3D val="0"/>
            <c:spPr>
              <a:solidFill>
                <a:srgbClr val="B7770D"/>
              </a:solidFill>
              <a:effectLst/>
            </c:spPr>
          </c:dPt>
          <c:cat>
            <c:multiLvlStrRef>
              <c:f>Sheet1!$A$2:$A$6</c:f>
              <c:multiLvlStrCache>
                <c:ptCount val="5"/>
                <c:lvl>
                  <c:pt idx="0">
                    <c:v>Youth
18-24</c:v>
                  </c:pt>
                  <c:pt idx="1">
                    <c:v>Young Adult
25-34</c:v>
                  </c:pt>
                  <c:pt idx="2">
                    <c:v>Middle Age
35-44</c:v>
                  </c:pt>
                  <c:pt idx="3">
                    <c:v>Senior Adult
45-59</c:v>
                  </c:pt>
                  <c:pt idx="4">
                    <c:v>Senior
60+</c:v>
                  </c:pt>
                </c:lvl>
              </c:multiLvlStrCache>
            </c:multiLvlStrRef>
          </c:cat>
          <c:val>
            <c:numRef>
              <c:f>Sheet1!$B$2:$B$6</c:f>
              <c:numCache>
                <c:formatCode>General</c:formatCode>
                <c:ptCount val="5"/>
                <c:pt idx="0">
                  <c:v>2210</c:v>
                </c:pt>
                <c:pt idx="1">
                  <c:v>2940</c:v>
                </c:pt>
                <c:pt idx="2">
                  <c:v>3120</c:v>
                </c:pt>
                <c:pt idx="3">
                  <c:v>3380</c:v>
                </c:pt>
                <c:pt idx="4">
                  <c:v>3050</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9F9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Total Sales (₹)</c:v>
                </c:pt>
              </c:strCache>
            </c:strRef>
          </c:tx>
          <c:spPr>
            <a:solidFill>
              <a:srgbClr val="CCCCCC"/>
            </a:solidFill>
            <a:effectLst/>
          </c:spPr>
          <c:invertIfNegative val="0"/>
          <c:dLbls>
            <c:numFmt formatCode="#,##0" sourceLinked="0"/>
            <c:txPr>
              <a:bodyPr/>
              <a:lstStyle/>
              <a:p>
                <a:pPr>
                  <a:defRPr b="0" i="0" strike="noStrike" sz="850" u="none">
                    <a:solidFill>
                      <a:srgbClr val="111111"/>
                    </a:solidFill>
                    <a:latin typeface="Arial"/>
                  </a:defRPr>
                </a:pPr>
              </a:p>
            </c:txPr>
            <c:showLegendKey val="0"/>
            <c:showVal val="1"/>
            <c:showCatName val="0"/>
            <c:showSerName val="0"/>
            <c:showPercent val="0"/>
            <c:showBubbleSize val="0"/>
            <c:showLeaderLines val="0"/>
          </c:dLbls>
          <c:dPt>
            <c:idx val="0"/>
            <c:invertIfNegative val="0"/>
            <c:bubble3D val="0"/>
            <c:spPr>
              <a:solidFill>
                <a:srgbClr val="CCCCCC"/>
              </a:solidFill>
              <a:effectLst/>
            </c:spPr>
          </c:dPt>
          <c:dPt>
            <c:idx val="1"/>
            <c:invertIfNegative val="0"/>
            <c:bubble3D val="0"/>
            <c:spPr>
              <a:solidFill>
                <a:srgbClr val="BBBBBB"/>
              </a:solidFill>
              <a:effectLst/>
            </c:spPr>
          </c:dPt>
          <c:dPt>
            <c:idx val="2"/>
            <c:invertIfNegative val="0"/>
            <c:bubble3D val="0"/>
            <c:spPr>
              <a:solidFill>
                <a:srgbClr val="AAAAAA"/>
              </a:solidFill>
              <a:effectLst/>
            </c:spPr>
          </c:dPt>
          <c:dPt>
            <c:idx val="3"/>
            <c:invertIfNegative val="0"/>
            <c:bubble3D val="0"/>
            <c:spPr>
              <a:solidFill>
                <a:srgbClr val="999999"/>
              </a:solidFill>
              <a:effectLst/>
            </c:spPr>
          </c:dPt>
          <c:dPt>
            <c:idx val="4"/>
            <c:invertIfNegative val="0"/>
            <c:bubble3D val="0"/>
            <c:spPr>
              <a:solidFill>
                <a:srgbClr val="D5DBDB"/>
              </a:solidFill>
              <a:effectLst/>
            </c:spPr>
          </c:dPt>
          <c:dPt>
            <c:idx val="5"/>
            <c:invertIfNegative val="0"/>
            <c:bubble3D val="0"/>
            <c:spPr>
              <a:solidFill>
                <a:srgbClr val="AED6F1"/>
              </a:solidFill>
              <a:effectLst/>
            </c:spPr>
          </c:dPt>
          <c:dPt>
            <c:idx val="6"/>
            <c:invertIfNegative val="0"/>
            <c:bubble3D val="0"/>
            <c:spPr>
              <a:solidFill>
                <a:srgbClr val="85C1E9"/>
              </a:solidFill>
              <a:effectLst/>
            </c:spPr>
          </c:dPt>
          <c:dPt>
            <c:idx val="7"/>
            <c:invertIfNegative val="0"/>
            <c:bubble3D val="0"/>
            <c:spPr>
              <a:solidFill>
                <a:srgbClr val="5DADE2"/>
              </a:solidFill>
              <a:effectLst/>
            </c:spPr>
          </c:dPt>
          <c:dPt>
            <c:idx val="8"/>
            <c:invertIfNegative val="0"/>
            <c:bubble3D val="0"/>
            <c:spPr>
              <a:solidFill>
                <a:srgbClr val="2980B9"/>
              </a:solidFill>
              <a:effectLst/>
            </c:spPr>
          </c:dPt>
          <c:dPt>
            <c:idx val="9"/>
            <c:invertIfNegative val="0"/>
            <c:bubble3D val="0"/>
            <c:spPr>
              <a:solidFill>
                <a:srgbClr val="1A5276"/>
              </a:solidFill>
              <a:effectLst/>
            </c:spPr>
          </c:dPt>
          <c:cat>
            <c:multiLvlStrRef>
              <c:f>Sheet1!$A$2:$A$11</c:f>
              <c:multiLvlStrCache>
                <c:ptCount val="10"/>
                <c:lvl>
                  <c:pt idx="0">
                    <c:v>Books</c:v>
                  </c:pt>
                  <c:pt idx="1">
                    <c:v>Grocery</c:v>
                  </c:pt>
                  <c:pt idx="2">
                    <c:v>Health</c:v>
                  </c:pt>
                  <c:pt idx="3">
                    <c:v>Toys</c:v>
                  </c:pt>
                  <c:pt idx="4">
                    <c:v>Beauty</c:v>
                  </c:pt>
                  <c:pt idx="5">
                    <c:v>Fashion</c:v>
                  </c:pt>
                  <c:pt idx="6">
                    <c:v>Sports</c:v>
                  </c:pt>
                  <c:pt idx="7">
                    <c:v>Home &amp; Kitchen</c:v>
                  </c:pt>
                  <c:pt idx="8">
                    <c:v>Automotive</c:v>
                  </c:pt>
                  <c:pt idx="9">
                    <c:v>Electronics</c:v>
                  </c:pt>
                </c:lvl>
              </c:multiLvlStrCache>
            </c:multiLvlStrRef>
          </c:cat>
          <c:val>
            <c:numRef>
              <c:f>Sheet1!$B$2:$B$11</c:f>
              <c:numCache>
                <c:formatCode>General</c:formatCode>
                <c:ptCount val="10"/>
                <c:pt idx="0">
                  <c:v>34800</c:v>
                </c:pt>
                <c:pt idx="1">
                  <c:v>52100</c:v>
                </c:pt>
                <c:pt idx="2">
                  <c:v>87400</c:v>
                </c:pt>
                <c:pt idx="3">
                  <c:v>98700</c:v>
                </c:pt>
                <c:pt idx="4">
                  <c:v>104300</c:v>
                </c:pt>
                <c:pt idx="5">
                  <c:v>176200</c:v>
                </c:pt>
                <c:pt idx="6">
                  <c:v>198400</c:v>
                </c:pt>
                <c:pt idx="7">
                  <c:v>287600</c:v>
                </c:pt>
                <c:pt idx="8">
                  <c:v>312400</c:v>
                </c:pt>
                <c:pt idx="9">
                  <c:v>431200</c:v>
                </c:pt>
              </c:numCache>
            </c:numRef>
          </c:val>
        </c:ser>
        <c:dLbls>
          <c:numFmt formatCode="#,##0" sourceLinked="0"/>
          <c:txPr>
            <a:bodyPr/>
            <a:lstStyle/>
            <a:p>
              <a:pPr>
                <a:defRPr b="0" i="0" strike="noStrike" sz="85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8E8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A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0F3460"/>
              </a:solidFill>
              <a:effectLst/>
            </c:spPr>
          </c:dPt>
          <c:dPt>
            <c:idx val="1"/>
            <c:bubble3D val="0"/>
            <c:spPr>
              <a:solidFill>
                <a:srgbClr val="117A65"/>
              </a:solidFill>
              <a:effectLst/>
            </c:spPr>
          </c:dPt>
          <c:dPt>
            <c:idx val="2"/>
            <c:bubble3D val="0"/>
            <c:spPr>
              <a:solidFill>
                <a:srgbClr val="B7770D"/>
              </a:solidFill>
              <a:effectLst/>
            </c:spPr>
          </c:dPt>
          <c:dPt>
            <c:idx val="3"/>
            <c:bubble3D val="0"/>
            <c:spPr>
              <a:solidFill>
                <a:srgbClr val="C0392B"/>
              </a:solidFill>
              <a:effectLst/>
            </c:spPr>
          </c:dPt>
          <c:dPt>
            <c:idx val="4"/>
            <c:bubble3D val="0"/>
            <c:spPr>
              <a:solidFill>
                <a:srgbClr val="6C3483"/>
              </a:solidFill>
              <a:effectLst/>
            </c:spPr>
          </c:dPt>
          <c:dPt>
            <c:idx val="5"/>
            <c:bubble3D val="0"/>
            <c:spPr>
              <a:solidFill>
                <a:srgbClr val="E67E22"/>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UPI</c:v>
                </c:pt>
                <c:pt idx="1">
                  <c:v>Credit Card</c:v>
                </c:pt>
                <c:pt idx="2">
                  <c:v>Debit Card</c:v>
                </c:pt>
                <c:pt idx="3">
                  <c:v>Net Banking</c:v>
                </c:pt>
                <c:pt idx="4">
                  <c:v>Cash on Delivery</c:v>
                </c:pt>
                <c:pt idx="5">
                  <c:v>Wallet</c:v>
                </c:pt>
              </c:strCache>
            </c:strRef>
          </c:cat>
          <c:val>
            <c:numRef>
              <c:f>Sheet1!$B$2:$B$7</c:f>
              <c:numCache>
                <c:ptCount val="6"/>
                <c:pt idx="0">
                  <c:v>118</c:v>
                </c:pt>
                <c:pt idx="1">
                  <c:v>112</c:v>
                </c:pt>
                <c:pt idx="2">
                  <c:v>101</c:v>
                </c:pt>
                <c:pt idx="3">
                  <c:v>94</c:v>
                </c:pt>
                <c:pt idx="4">
                  <c:v>91</c:v>
                </c:pt>
                <c:pt idx="5">
                  <c:v>84</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3460"/>
          </a:solidFill>
          <a:ln/>
        </p:spPr>
      </p:sp>
      <p:sp>
        <p:nvSpPr>
          <p:cNvPr id="3" name="Shape 1"/>
          <p:cNvSpPr/>
          <p:nvPr/>
        </p:nvSpPr>
        <p:spPr>
          <a:xfrm>
            <a:off x="0" y="0"/>
            <a:ext cx="9144000" cy="54864"/>
          </a:xfrm>
          <a:prstGeom prst="rect">
            <a:avLst/>
          </a:prstGeom>
          <a:solidFill>
            <a:srgbClr val="1A1A2E"/>
          </a:solidFill>
          <a:ln/>
        </p:spPr>
      </p:sp>
      <p:sp>
        <p:nvSpPr>
          <p:cNvPr id="4" name="Shape 2"/>
          <p:cNvSpPr/>
          <p:nvPr/>
        </p:nvSpPr>
        <p:spPr>
          <a:xfrm>
            <a:off x="0" y="5052060"/>
            <a:ext cx="9144000" cy="91440"/>
          </a:xfrm>
          <a:prstGeom prst="rect">
            <a:avLst/>
          </a:prstGeom>
          <a:solidFill>
            <a:srgbClr val="1A1A2E"/>
          </a:solidFill>
          <a:ln/>
        </p:spPr>
      </p:sp>
      <p:sp>
        <p:nvSpPr>
          <p:cNvPr id="5" name="Text 3"/>
          <p:cNvSpPr/>
          <p:nvPr/>
        </p:nvSpPr>
        <p:spPr>
          <a:xfrm>
            <a:off x="384048" y="594360"/>
            <a:ext cx="5669280" cy="2194560"/>
          </a:xfrm>
          <a:prstGeom prst="rect">
            <a:avLst/>
          </a:prstGeom>
          <a:noFill/>
          <a:ln/>
        </p:spPr>
        <p:txBody>
          <a:bodyPr wrap="square" rtlCol="0" anchor="ctr"/>
          <a:lstStyle/>
          <a:p>
            <a:pPr indent="0" marL="0">
              <a:lnSpc>
                <a:spcPct val="120000"/>
              </a:lnSpc>
              <a:buNone/>
            </a:pPr>
            <a:r>
              <a:rPr lang="en-US" sz="3600" b="1" dirty="0">
                <a:solidFill>
                  <a:srgbClr val="1A1A2E"/>
                </a:solidFill>
                <a:latin typeface="Calibri" pitchFamily="34" charset="0"/>
                <a:ea typeface="Calibri" pitchFamily="34" charset="-122"/>
                <a:cs typeface="Calibri" pitchFamily="34" charset="-120"/>
              </a:rPr>
              <a:t>Online Shopping</a:t>
            </a:r>
            <a:endParaRPr lang="en-US" sz="3600" dirty="0"/>
          </a:p>
          <a:p>
            <a:pPr indent="0" marL="0">
              <a:lnSpc>
                <a:spcPct val="120000"/>
              </a:lnSpc>
              <a:buNone/>
            </a:pPr>
            <a:r>
              <a:rPr lang="en-US" sz="3600" b="1" dirty="0">
                <a:solidFill>
                  <a:srgbClr val="1A1A2E"/>
                </a:solidFill>
                <a:latin typeface="Calibri" pitchFamily="34" charset="0"/>
                <a:ea typeface="Calibri" pitchFamily="34" charset="-122"/>
                <a:cs typeface="Calibri" pitchFamily="34" charset="-120"/>
              </a:rPr>
              <a:t>Customer Behavior</a:t>
            </a:r>
            <a:endParaRPr lang="en-US" sz="3600" dirty="0"/>
          </a:p>
          <a:p>
            <a:pPr indent="0" marL="0">
              <a:lnSpc>
                <a:spcPct val="120000"/>
              </a:lnSpc>
              <a:buNone/>
            </a:pPr>
            <a:r>
              <a:rPr lang="en-US" sz="3600" b="1" dirty="0">
                <a:solidFill>
                  <a:srgbClr val="1A1A2E"/>
                </a:solidFill>
                <a:latin typeface="Calibri" pitchFamily="34" charset="0"/>
                <a:ea typeface="Calibri" pitchFamily="34" charset="-122"/>
                <a:cs typeface="Calibri" pitchFamily="34" charset="-120"/>
              </a:rPr>
              <a:t>Analysis</a:t>
            </a:r>
            <a:endParaRPr lang="en-US" sz="3600" dirty="0"/>
          </a:p>
        </p:txBody>
      </p:sp>
      <p:sp>
        <p:nvSpPr>
          <p:cNvPr id="6" name="Shape 4"/>
          <p:cNvSpPr/>
          <p:nvPr/>
        </p:nvSpPr>
        <p:spPr>
          <a:xfrm>
            <a:off x="384048" y="2907792"/>
            <a:ext cx="4754880" cy="27432"/>
          </a:xfrm>
          <a:prstGeom prst="rect">
            <a:avLst/>
          </a:prstGeom>
          <a:solidFill>
            <a:srgbClr val="CCCCCC"/>
          </a:solidFill>
          <a:ln/>
        </p:spPr>
      </p:sp>
      <p:sp>
        <p:nvSpPr>
          <p:cNvPr id="7" name="Text 5"/>
          <p:cNvSpPr/>
          <p:nvPr/>
        </p:nvSpPr>
        <p:spPr>
          <a:xfrm>
            <a:off x="384048" y="2999232"/>
            <a:ext cx="5029200" cy="320040"/>
          </a:xfrm>
          <a:prstGeom prst="rect">
            <a:avLst/>
          </a:prstGeom>
          <a:noFill/>
          <a:ln/>
        </p:spPr>
        <p:txBody>
          <a:bodyPr wrap="square" rtlCol="0" anchor="ctr"/>
          <a:lstStyle/>
          <a:p>
            <a:pPr indent="0" marL="0">
              <a:buNone/>
            </a:pPr>
            <a:r>
              <a:rPr lang="en-US" sz="1200" b="1" dirty="0">
                <a:solidFill>
                  <a:srgbClr val="888888"/>
                </a:solidFill>
                <a:latin typeface="Calibri" pitchFamily="34" charset="0"/>
                <a:ea typeface="Calibri" pitchFamily="34" charset="-122"/>
                <a:cs typeface="Calibri" pitchFamily="34" charset="-120"/>
              </a:rPr>
              <a:t>Student:  </a:t>
            </a:r>
            <a:pPr indent="0" marL="0">
              <a:buNone/>
            </a:pPr>
            <a:r>
              <a:rPr lang="en-US" sz="1200" dirty="0">
                <a:solidFill>
                  <a:srgbClr val="1A1A2E"/>
                </a:solidFill>
                <a:latin typeface="Calibri" pitchFamily="34" charset="0"/>
                <a:ea typeface="Calibri" pitchFamily="34" charset="-122"/>
                <a:cs typeface="Calibri" pitchFamily="34" charset="-120"/>
              </a:rPr>
              <a:t>Savio Tito</a:t>
            </a:r>
            <a:endParaRPr lang="en-US" sz="1200" dirty="0"/>
          </a:p>
        </p:txBody>
      </p:sp>
      <p:sp>
        <p:nvSpPr>
          <p:cNvPr id="8" name="Text 6"/>
          <p:cNvSpPr/>
          <p:nvPr/>
        </p:nvSpPr>
        <p:spPr>
          <a:xfrm>
            <a:off x="384048" y="3346704"/>
            <a:ext cx="5029200" cy="320040"/>
          </a:xfrm>
          <a:prstGeom prst="rect">
            <a:avLst/>
          </a:prstGeom>
          <a:noFill/>
          <a:ln/>
        </p:spPr>
        <p:txBody>
          <a:bodyPr wrap="square" rtlCol="0" anchor="ctr"/>
          <a:lstStyle/>
          <a:p>
            <a:pPr indent="0" marL="0">
              <a:buNone/>
            </a:pPr>
            <a:r>
              <a:rPr lang="en-US" sz="1200" b="1" dirty="0">
                <a:solidFill>
                  <a:srgbClr val="888888"/>
                </a:solidFill>
                <a:latin typeface="Calibri" pitchFamily="34" charset="0"/>
                <a:ea typeface="Calibri" pitchFamily="34" charset="-122"/>
                <a:cs typeface="Calibri" pitchFamily="34" charset="-120"/>
              </a:rPr>
              <a:t>UID:  </a:t>
            </a:r>
            <a:pPr indent="0" marL="0">
              <a:buNone/>
            </a:pPr>
            <a:r>
              <a:rPr lang="en-US" sz="1200" dirty="0">
                <a:solidFill>
                  <a:srgbClr val="1A1A2E"/>
                </a:solidFill>
                <a:latin typeface="Calibri" pitchFamily="34" charset="0"/>
                <a:ea typeface="Calibri" pitchFamily="34" charset="-122"/>
                <a:cs typeface="Calibri" pitchFamily="34" charset="-120"/>
              </a:rPr>
              <a:t>24bsc10046</a:t>
            </a:r>
            <a:endParaRPr lang="en-US" sz="1200" dirty="0"/>
          </a:p>
        </p:txBody>
      </p:sp>
      <p:sp>
        <p:nvSpPr>
          <p:cNvPr id="9" name="Text 7"/>
          <p:cNvSpPr/>
          <p:nvPr/>
        </p:nvSpPr>
        <p:spPr>
          <a:xfrm>
            <a:off x="384048" y="3694176"/>
            <a:ext cx="5029200" cy="320040"/>
          </a:xfrm>
          <a:prstGeom prst="rect">
            <a:avLst/>
          </a:prstGeom>
          <a:noFill/>
          <a:ln/>
        </p:spPr>
        <p:txBody>
          <a:bodyPr wrap="square" rtlCol="0" anchor="ctr"/>
          <a:lstStyle/>
          <a:p>
            <a:pPr indent="0" marL="0">
              <a:buNone/>
            </a:pPr>
            <a:r>
              <a:rPr lang="en-US" sz="1200" b="1" dirty="0">
                <a:solidFill>
                  <a:srgbClr val="888888"/>
                </a:solidFill>
                <a:latin typeface="Calibri" pitchFamily="34" charset="0"/>
                <a:ea typeface="Calibri" pitchFamily="34" charset="-122"/>
                <a:cs typeface="Calibri" pitchFamily="34" charset="-120"/>
              </a:rPr>
              <a:t>Guide:  </a:t>
            </a:r>
            <a:pPr indent="0" marL="0">
              <a:buNone/>
            </a:pPr>
            <a:r>
              <a:rPr lang="en-US" sz="1200" dirty="0">
                <a:solidFill>
                  <a:srgbClr val="1A1A2E"/>
                </a:solidFill>
                <a:latin typeface="Calibri" pitchFamily="34" charset="0"/>
                <a:ea typeface="Calibri" pitchFamily="34" charset="-122"/>
                <a:cs typeface="Calibri" pitchFamily="34" charset="-120"/>
              </a:rPr>
              <a:t>Parwan Singh</a:t>
            </a:r>
            <a:endParaRPr lang="en-US" sz="1200" dirty="0"/>
          </a:p>
        </p:txBody>
      </p:sp>
      <p:sp>
        <p:nvSpPr>
          <p:cNvPr id="10" name="Text 8"/>
          <p:cNvSpPr/>
          <p:nvPr/>
        </p:nvSpPr>
        <p:spPr>
          <a:xfrm>
            <a:off x="384048" y="4041648"/>
            <a:ext cx="5029200" cy="320040"/>
          </a:xfrm>
          <a:prstGeom prst="rect">
            <a:avLst/>
          </a:prstGeom>
          <a:noFill/>
          <a:ln/>
        </p:spPr>
        <p:txBody>
          <a:bodyPr wrap="square" rtlCol="0" anchor="ctr"/>
          <a:lstStyle/>
          <a:p>
            <a:pPr indent="0" marL="0">
              <a:buNone/>
            </a:pPr>
            <a:r>
              <a:rPr lang="en-US" sz="1200" b="1" dirty="0">
                <a:solidFill>
                  <a:srgbClr val="888888"/>
                </a:solidFill>
                <a:latin typeface="Calibri" pitchFamily="34" charset="0"/>
                <a:ea typeface="Calibri" pitchFamily="34" charset="-122"/>
                <a:cs typeface="Calibri" pitchFamily="34" charset="-120"/>
              </a:rPr>
              <a:t>University:  </a:t>
            </a:r>
            <a:pPr indent="0" marL="0">
              <a:buNone/>
            </a:pPr>
            <a:r>
              <a:rPr lang="en-US" sz="1200" dirty="0">
                <a:solidFill>
                  <a:srgbClr val="1A1A2E"/>
                </a:solidFill>
                <a:latin typeface="Calibri" pitchFamily="34" charset="0"/>
                <a:ea typeface="Calibri" pitchFamily="34" charset="-122"/>
                <a:cs typeface="Calibri" pitchFamily="34" charset="-120"/>
              </a:rPr>
              <a:t>Chandigarh University</a:t>
            </a:r>
            <a:endParaRPr lang="en-US" sz="1200" dirty="0"/>
          </a:p>
        </p:txBody>
      </p:sp>
      <p:sp>
        <p:nvSpPr>
          <p:cNvPr id="11" name="Text 9"/>
          <p:cNvSpPr/>
          <p:nvPr/>
        </p:nvSpPr>
        <p:spPr>
          <a:xfrm>
            <a:off x="384048" y="4389120"/>
            <a:ext cx="5029200" cy="320040"/>
          </a:xfrm>
          <a:prstGeom prst="rect">
            <a:avLst/>
          </a:prstGeom>
          <a:noFill/>
          <a:ln/>
        </p:spPr>
        <p:txBody>
          <a:bodyPr wrap="square" rtlCol="0" anchor="ctr"/>
          <a:lstStyle/>
          <a:p>
            <a:pPr indent="0" marL="0">
              <a:buNone/>
            </a:pPr>
            <a:r>
              <a:rPr lang="en-US" sz="1200" b="1" dirty="0">
                <a:solidFill>
                  <a:srgbClr val="888888"/>
                </a:solidFill>
                <a:latin typeface="Calibri" pitchFamily="34" charset="0"/>
                <a:ea typeface="Calibri" pitchFamily="34" charset="-122"/>
                <a:cs typeface="Calibri" pitchFamily="34" charset="-120"/>
              </a:rPr>
              <a:t>Course:  </a:t>
            </a:r>
            <a:pPr indent="0" marL="0">
              <a:buNone/>
            </a:pPr>
            <a:r>
              <a:rPr lang="en-US" sz="1200" dirty="0">
                <a:solidFill>
                  <a:srgbClr val="1A1A2E"/>
                </a:solidFill>
                <a:latin typeface="Calibri" pitchFamily="34" charset="0"/>
                <a:ea typeface="Calibri" pitchFamily="34" charset="-122"/>
                <a:cs typeface="Calibri" pitchFamily="34" charset="-120"/>
              </a:rPr>
              <a:t>Data Science using Excel  |  2024–25</a:t>
            </a:r>
            <a:endParaRPr lang="en-US" sz="1200" dirty="0"/>
          </a:p>
        </p:txBody>
      </p:sp>
      <p:sp>
        <p:nvSpPr>
          <p:cNvPr id="12" name="Shape 10"/>
          <p:cNvSpPr/>
          <p:nvPr/>
        </p:nvSpPr>
        <p:spPr>
          <a:xfrm>
            <a:off x="6400800" y="457200"/>
            <a:ext cx="2578608" cy="4315968"/>
          </a:xfrm>
          <a:prstGeom prst="rect">
            <a:avLst/>
          </a:prstGeom>
          <a:solidFill>
            <a:srgbClr val="F4F4F4"/>
          </a:solidFill>
          <a:ln/>
        </p:spPr>
      </p:sp>
      <p:sp>
        <p:nvSpPr>
          <p:cNvPr id="13" name="Text 11"/>
          <p:cNvSpPr/>
          <p:nvPr/>
        </p:nvSpPr>
        <p:spPr>
          <a:xfrm>
            <a:off x="6492240" y="594360"/>
            <a:ext cx="2377440" cy="292608"/>
          </a:xfrm>
          <a:prstGeom prst="rect">
            <a:avLst/>
          </a:prstGeom>
          <a:noFill/>
          <a:ln/>
        </p:spPr>
        <p:txBody>
          <a:bodyPr wrap="square" rtlCol="0" anchor="ctr"/>
          <a:lstStyle/>
          <a:p>
            <a:pPr algn="ctr" indent="0" marL="0">
              <a:buNone/>
            </a:pPr>
            <a:r>
              <a:rPr lang="en-US" sz="1000" b="1" dirty="0">
                <a:solidFill>
                  <a:srgbClr val="0F3460"/>
                </a:solidFill>
                <a:latin typeface="Calibri" pitchFamily="34" charset="0"/>
                <a:ea typeface="Calibri" pitchFamily="34" charset="-122"/>
                <a:cs typeface="Calibri" pitchFamily="34" charset="-120"/>
              </a:rPr>
              <a:t>What we analyze</a:t>
            </a:r>
            <a:endParaRPr lang="en-US" sz="1000" dirty="0"/>
          </a:p>
        </p:txBody>
      </p:sp>
      <p:sp>
        <p:nvSpPr>
          <p:cNvPr id="14" name="Shape 12"/>
          <p:cNvSpPr/>
          <p:nvPr/>
        </p:nvSpPr>
        <p:spPr>
          <a:xfrm>
            <a:off x="6492240" y="960120"/>
            <a:ext cx="2395728" cy="475488"/>
          </a:xfrm>
          <a:prstGeom prst="rect">
            <a:avLst/>
          </a:prstGeom>
          <a:solidFill>
            <a:srgbClr val="FFFFFF"/>
          </a:solidFill>
          <a:ln/>
        </p:spPr>
      </p:sp>
      <p:sp>
        <p:nvSpPr>
          <p:cNvPr id="15" name="Text 13"/>
          <p:cNvSpPr/>
          <p:nvPr/>
        </p:nvSpPr>
        <p:spPr>
          <a:xfrm>
            <a:off x="6565392" y="96012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Who spends the most?</a:t>
            </a:r>
            <a:endParaRPr lang="en-US" sz="950" dirty="0"/>
          </a:p>
        </p:txBody>
      </p:sp>
      <p:sp>
        <p:nvSpPr>
          <p:cNvPr id="16" name="Shape 14"/>
          <p:cNvSpPr/>
          <p:nvPr/>
        </p:nvSpPr>
        <p:spPr>
          <a:xfrm>
            <a:off x="6492240" y="1508760"/>
            <a:ext cx="2395728" cy="475488"/>
          </a:xfrm>
          <a:prstGeom prst="rect">
            <a:avLst/>
          </a:prstGeom>
          <a:solidFill>
            <a:srgbClr val="E8EAF0"/>
          </a:solidFill>
          <a:ln/>
        </p:spPr>
      </p:sp>
      <p:sp>
        <p:nvSpPr>
          <p:cNvPr id="17" name="Text 15"/>
          <p:cNvSpPr/>
          <p:nvPr/>
        </p:nvSpPr>
        <p:spPr>
          <a:xfrm>
            <a:off x="6565392" y="150876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Which category earns the most?</a:t>
            </a:r>
            <a:endParaRPr lang="en-US" sz="950" dirty="0"/>
          </a:p>
        </p:txBody>
      </p:sp>
      <p:sp>
        <p:nvSpPr>
          <p:cNvPr id="18" name="Shape 16"/>
          <p:cNvSpPr/>
          <p:nvPr/>
        </p:nvSpPr>
        <p:spPr>
          <a:xfrm>
            <a:off x="6492240" y="2057400"/>
            <a:ext cx="2395728" cy="475488"/>
          </a:xfrm>
          <a:prstGeom prst="rect">
            <a:avLst/>
          </a:prstGeom>
          <a:solidFill>
            <a:srgbClr val="FFFFFF"/>
          </a:solidFill>
          <a:ln/>
        </p:spPr>
      </p:sp>
      <p:sp>
        <p:nvSpPr>
          <p:cNvPr id="19" name="Text 17"/>
          <p:cNvSpPr/>
          <p:nvPr/>
        </p:nvSpPr>
        <p:spPr>
          <a:xfrm>
            <a:off x="6565392" y="205740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How do customers pay?</a:t>
            </a:r>
            <a:endParaRPr lang="en-US" sz="950" dirty="0"/>
          </a:p>
        </p:txBody>
      </p:sp>
      <p:sp>
        <p:nvSpPr>
          <p:cNvPr id="20" name="Shape 18"/>
          <p:cNvSpPr/>
          <p:nvPr/>
        </p:nvSpPr>
        <p:spPr>
          <a:xfrm>
            <a:off x="6492240" y="2606040"/>
            <a:ext cx="2395728" cy="475488"/>
          </a:xfrm>
          <a:prstGeom prst="rect">
            <a:avLst/>
          </a:prstGeom>
          <a:solidFill>
            <a:srgbClr val="E8EAF0"/>
          </a:solidFill>
          <a:ln/>
        </p:spPr>
      </p:sp>
      <p:sp>
        <p:nvSpPr>
          <p:cNvPr id="21" name="Text 19"/>
          <p:cNvSpPr/>
          <p:nvPr/>
        </p:nvSpPr>
        <p:spPr>
          <a:xfrm>
            <a:off x="6565392" y="260604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Does device type affect spending?</a:t>
            </a:r>
            <a:endParaRPr lang="en-US" sz="950" dirty="0"/>
          </a:p>
        </p:txBody>
      </p:sp>
      <p:sp>
        <p:nvSpPr>
          <p:cNvPr id="22" name="Shape 20"/>
          <p:cNvSpPr/>
          <p:nvPr/>
        </p:nvSpPr>
        <p:spPr>
          <a:xfrm>
            <a:off x="6492240" y="3154680"/>
            <a:ext cx="2395728" cy="475488"/>
          </a:xfrm>
          <a:prstGeom prst="rect">
            <a:avLst/>
          </a:prstGeom>
          <a:solidFill>
            <a:srgbClr val="FFFFFF"/>
          </a:solidFill>
          <a:ln/>
        </p:spPr>
      </p:sp>
      <p:sp>
        <p:nvSpPr>
          <p:cNvPr id="23" name="Text 21"/>
          <p:cNvSpPr/>
          <p:nvPr/>
        </p:nvSpPr>
        <p:spPr>
          <a:xfrm>
            <a:off x="6565392" y="315468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Does loyalty tier drive revenue?</a:t>
            </a:r>
            <a:endParaRPr lang="en-US" sz="950" dirty="0"/>
          </a:p>
        </p:txBody>
      </p:sp>
      <p:sp>
        <p:nvSpPr>
          <p:cNvPr id="24" name="Shape 22"/>
          <p:cNvSpPr/>
          <p:nvPr/>
        </p:nvSpPr>
        <p:spPr>
          <a:xfrm>
            <a:off x="6492240" y="3703320"/>
            <a:ext cx="2395728" cy="475488"/>
          </a:xfrm>
          <a:prstGeom prst="rect">
            <a:avLst/>
          </a:prstGeom>
          <a:solidFill>
            <a:srgbClr val="E8EAF0"/>
          </a:solidFill>
          <a:ln/>
        </p:spPr>
      </p:sp>
      <p:sp>
        <p:nvSpPr>
          <p:cNvPr id="25" name="Text 23"/>
          <p:cNvSpPr/>
          <p:nvPr/>
        </p:nvSpPr>
        <p:spPr>
          <a:xfrm>
            <a:off x="6565392" y="3703320"/>
            <a:ext cx="2249424" cy="475488"/>
          </a:xfrm>
          <a:prstGeom prst="rect">
            <a:avLst/>
          </a:prstGeom>
          <a:noFill/>
          <a:ln/>
        </p:spPr>
        <p:txBody>
          <a:bodyPr wrap="square" rtlCol="0" anchor="ctr"/>
          <a:lstStyle/>
          <a:p>
            <a:pPr indent="0" marL="0">
              <a:buNone/>
            </a:pPr>
            <a:r>
              <a:rPr lang="en-US" sz="950" dirty="0">
                <a:solidFill>
                  <a:srgbClr val="0F3460"/>
                </a:solidFill>
                <a:latin typeface="Calibri" pitchFamily="34" charset="0"/>
                <a:ea typeface="Calibri" pitchFamily="34" charset="-122"/>
                <a:cs typeface="Calibri" pitchFamily="34" charset="-120"/>
              </a:rPr>
              <a:t>What can Excel reveal about real buyer behavior?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1</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Introduction</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68680"/>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Online shopping has transformed how people buy goods, especially in India, where affordable smartphones and fast digital payments have created one of the world's fastest-growing e-commerce markets. In 2024, the market was valued at $83 billion and is expected to more than double by 2027.</a:t>
            </a:r>
            <a:endParaRPr lang="en-US" sz="1150" dirty="0"/>
          </a:p>
        </p:txBody>
      </p:sp>
      <p:sp>
        <p:nvSpPr>
          <p:cNvPr id="8" name="Text 6"/>
          <p:cNvSpPr/>
          <p:nvPr/>
        </p:nvSpPr>
        <p:spPr>
          <a:xfrm>
            <a:off x="457200" y="1572768"/>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Despite this explosive growth, most small and medium businesses analyze their customer data using Microsoft Excel — yet very few use it to its full potential. They collect data but rarely transform it into insights that can drive real decisions.</a:t>
            </a:r>
            <a:endParaRPr lang="en-US" sz="1150" dirty="0"/>
          </a:p>
        </p:txBody>
      </p:sp>
      <p:sp>
        <p:nvSpPr>
          <p:cNvPr id="9" name="Text 7"/>
          <p:cNvSpPr/>
          <p:nvPr/>
        </p:nvSpPr>
        <p:spPr>
          <a:xfrm>
            <a:off x="457200" y="2331720"/>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What this project sets out to do</a:t>
            </a:r>
            <a:endParaRPr lang="en-US" sz="1300" dirty="0"/>
          </a:p>
        </p:txBody>
      </p:sp>
      <p:sp>
        <p:nvSpPr>
          <p:cNvPr id="10" name="Text 8"/>
          <p:cNvSpPr/>
          <p:nvPr/>
        </p:nvSpPr>
        <p:spPr>
          <a:xfrm>
            <a:off x="457200" y="2670048"/>
            <a:ext cx="8229600" cy="2194560"/>
          </a:xfrm>
          <a:prstGeom prst="rect">
            <a:avLst/>
          </a:prstGeom>
          <a:noFill/>
          <a:ln/>
        </p:spPr>
        <p:txBody>
          <a:bodyPr wrap="square" rtlCol="0" anchor="t"/>
          <a:lstStyle/>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Design a realistic dataset of 600 online shoppers in India with 18 attributes — from age and income to what they bought, how they paid, and whether they returned the product.</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Clean and organize the data using Excel's built-in tools so it is accurate, consistent, and ready for analysis.</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Use pivot tables, charts, and an interactive dashboard to answer clear, real-world questions about customer behavior.</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Demonstrate that a complete data science workflow is possible entirely inside Excel — no coding required.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2</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Literature Review</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548640"/>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Before building the project, we looked at how researchers and businesses have previously studied customer behavior and what frameworks they use to make sense of large volumes of purchase data.</a:t>
            </a:r>
            <a:endParaRPr lang="en-US" sz="1150" dirty="0"/>
          </a:p>
        </p:txBody>
      </p:sp>
      <p:sp>
        <p:nvSpPr>
          <p:cNvPr id="8" name="Text 6"/>
          <p:cNvSpPr/>
          <p:nvPr/>
        </p:nvSpPr>
        <p:spPr>
          <a:xfrm>
            <a:off x="457200" y="1508760"/>
            <a:ext cx="8229600" cy="292608"/>
          </a:xfrm>
          <a:prstGeom prst="rect">
            <a:avLst/>
          </a:prstGeom>
          <a:noFill/>
          <a:ln/>
        </p:spPr>
        <p:txBody>
          <a:bodyPr wrap="square" rtlCol="0" anchor="ctr"/>
          <a:lstStyle/>
          <a:p>
            <a:pPr indent="0" marL="0">
              <a:buNone/>
            </a:pPr>
            <a:r>
              <a:rPr lang="en-US" sz="1300" b="1" dirty="0">
                <a:solidFill>
                  <a:srgbClr val="0F3460"/>
                </a:solidFill>
                <a:latin typeface="Calibri" pitchFamily="34" charset="0"/>
                <a:ea typeface="Calibri" pitchFamily="34" charset="-122"/>
                <a:cs typeface="Calibri" pitchFamily="34" charset="-120"/>
              </a:rPr>
              <a:t>The RFM Model  —  Chen et al., 2012</a:t>
            </a:r>
            <a:endParaRPr lang="en-US" sz="1300" dirty="0"/>
          </a:p>
        </p:txBody>
      </p:sp>
      <p:sp>
        <p:nvSpPr>
          <p:cNvPr id="9" name="Text 7"/>
          <p:cNvSpPr/>
          <p:nvPr/>
        </p:nvSpPr>
        <p:spPr>
          <a:xfrm>
            <a:off x="457200" y="1810512"/>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RFM stands for Recency, Frequency, and Monetary value. It segments customers based on how recently they bought, how often they buy, and how much they spend. Studies show it can increase marketing return on investment by 15 to 40 percent. In this project, we mirror RFM using Purchase_Date, Purchase_Frequency, and Purchase_Amount.</a:t>
            </a:r>
            <a:endParaRPr lang="en-US" sz="1150" dirty="0"/>
          </a:p>
        </p:txBody>
      </p:sp>
      <p:sp>
        <p:nvSpPr>
          <p:cNvPr id="10" name="Text 8"/>
          <p:cNvSpPr/>
          <p:nvPr/>
        </p:nvSpPr>
        <p:spPr>
          <a:xfrm>
            <a:off x="457200" y="2542032"/>
            <a:ext cx="8229600" cy="292608"/>
          </a:xfrm>
          <a:prstGeom prst="rect">
            <a:avLst/>
          </a:prstGeom>
          <a:noFill/>
          <a:ln/>
        </p:spPr>
        <p:txBody>
          <a:bodyPr wrap="square" rtlCol="0" anchor="ctr"/>
          <a:lstStyle/>
          <a:p>
            <a:pPr indent="0" marL="0">
              <a:buNone/>
            </a:pPr>
            <a:r>
              <a:rPr lang="en-US" sz="1300" b="1" dirty="0">
                <a:solidFill>
                  <a:srgbClr val="117A65"/>
                </a:solidFill>
                <a:latin typeface="Calibri" pitchFamily="34" charset="0"/>
                <a:ea typeface="Calibri" pitchFamily="34" charset="-122"/>
                <a:cs typeface="Calibri" pitchFamily="34" charset="-120"/>
              </a:rPr>
              <a:t>Technology Acceptance Model  —  Davis, 1989</a:t>
            </a:r>
            <a:endParaRPr lang="en-US" sz="1300" dirty="0"/>
          </a:p>
        </p:txBody>
      </p:sp>
      <p:sp>
        <p:nvSpPr>
          <p:cNvPr id="11" name="Text 9"/>
          <p:cNvSpPr/>
          <p:nvPr/>
        </p:nvSpPr>
        <p:spPr>
          <a:xfrm>
            <a:off x="457200" y="2852928"/>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This model explains why people adopt new technologies. When something is easy to use and clearly useful, people adopt it quickly. It directly explains the explosive rise of UPI in India — it requires no card details, works on any phone, and settles payments in seconds. Younger customers adopted it first.</a:t>
            </a:r>
            <a:endParaRPr lang="en-US" sz="1150" dirty="0"/>
          </a:p>
        </p:txBody>
      </p:sp>
      <p:sp>
        <p:nvSpPr>
          <p:cNvPr id="12" name="Text 10"/>
          <p:cNvSpPr/>
          <p:nvPr/>
        </p:nvSpPr>
        <p:spPr>
          <a:xfrm>
            <a:off x="457200" y="3584448"/>
            <a:ext cx="8229600" cy="292608"/>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Theory of Planned Behavior  —  Ajzen, 1991</a:t>
            </a:r>
            <a:endParaRPr lang="en-US" sz="1300" dirty="0"/>
          </a:p>
        </p:txBody>
      </p:sp>
      <p:sp>
        <p:nvSpPr>
          <p:cNvPr id="13" name="Text 11"/>
          <p:cNvSpPr/>
          <p:nvPr/>
        </p:nvSpPr>
        <p:spPr>
          <a:xfrm>
            <a:off x="457200" y="3886200"/>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Purchase decisions are shaped by three things: the customer's attitude, what people around them do, and how much control they feel they have. In e-commerce, trust in the platform and ease of checkout are the two factors that most directly predict whether someone completes a purchase or abandons the cart.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3 — METHODOLOGY</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Dataset Design</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594360"/>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Since no real customer database was available for this academic project, we built a synthetic dataset that reflects realistic Indian online shopping behavior. Every number, category, and pattern was calibrated to match published industry reports from NASSCOM and RBI.</a:t>
            </a:r>
            <a:endParaRPr lang="en-US" sz="1150" dirty="0"/>
          </a:p>
        </p:txBody>
      </p:sp>
      <p:sp>
        <p:nvSpPr>
          <p:cNvPr id="8" name="Text 6"/>
          <p:cNvSpPr/>
          <p:nvPr/>
        </p:nvSpPr>
        <p:spPr>
          <a:xfrm>
            <a:off x="457200" y="1554480"/>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What the dataset contains</a:t>
            </a:r>
            <a:endParaRPr lang="en-US" sz="1300" dirty="0"/>
          </a:p>
        </p:txBody>
      </p:sp>
      <p:sp>
        <p:nvSpPr>
          <p:cNvPr id="9" name="Text 7"/>
          <p:cNvSpPr/>
          <p:nvPr/>
        </p:nvSpPr>
        <p:spPr>
          <a:xfrm>
            <a:off x="457200" y="1865376"/>
            <a:ext cx="8229600" cy="89611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The dataset has 600 rows — one per customer — and 18 columns. Five columns describe who the customer is: their age, gender, city, and annual income. Nine columns describe what they did: which product category they bought from, how much they spent, how often they buy in a year, how they paid, what device they used, their satisfaction rating, their membership level, the date of purchase, and whether they returned the product or used a discount.</a:t>
            </a:r>
            <a:endParaRPr lang="en-US" sz="1150" dirty="0"/>
          </a:p>
        </p:txBody>
      </p:sp>
      <p:sp>
        <p:nvSpPr>
          <p:cNvPr id="10" name="Text 8"/>
          <p:cNvSpPr/>
          <p:nvPr/>
        </p:nvSpPr>
        <p:spPr>
          <a:xfrm>
            <a:off x="457200" y="2852928"/>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The three derived columns we created</a:t>
            </a:r>
            <a:endParaRPr lang="en-US" sz="1300" dirty="0"/>
          </a:p>
        </p:txBody>
      </p:sp>
      <p:sp>
        <p:nvSpPr>
          <p:cNvPr id="11" name="Text 9"/>
          <p:cNvSpPr/>
          <p:nvPr/>
        </p:nvSpPr>
        <p:spPr>
          <a:xfrm>
            <a:off x="457200" y="3163824"/>
            <a:ext cx="8229600" cy="80467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Three additional columns were engineered from the raw data using Excel formulas. Age_Group groups customers into five life stages from Youth to Senior. Income_Category places each customer into one of five socioeconomic tiers. Spending_Level classifies each transaction as Low, Medium, High, or Premium based on the purchase amount. These derived columns are what make the pivot table analysis possible.</a:t>
            </a:r>
            <a:endParaRPr lang="en-US" sz="1150" dirty="0"/>
          </a:p>
        </p:txBody>
      </p:sp>
      <p:sp>
        <p:nvSpPr>
          <p:cNvPr id="12" name="Shape 10"/>
          <p:cNvSpPr/>
          <p:nvPr/>
        </p:nvSpPr>
        <p:spPr>
          <a:xfrm>
            <a:off x="457200" y="4059936"/>
            <a:ext cx="8229600" cy="804672"/>
          </a:xfrm>
          <a:prstGeom prst="rect">
            <a:avLst/>
          </a:prstGeom>
          <a:solidFill>
            <a:srgbClr val="F4F4F4"/>
          </a:solidFill>
          <a:ln w="12700">
            <a:solidFill>
              <a:srgbClr val="F4F4F4"/>
            </a:solidFill>
            <a:prstDash val="solid"/>
          </a:ln>
        </p:spPr>
      </p:sp>
      <p:sp>
        <p:nvSpPr>
          <p:cNvPr id="13" name="Shape 11"/>
          <p:cNvSpPr/>
          <p:nvPr/>
        </p:nvSpPr>
        <p:spPr>
          <a:xfrm>
            <a:off x="457200" y="4059936"/>
            <a:ext cx="54864" cy="804672"/>
          </a:xfrm>
          <a:prstGeom prst="rect">
            <a:avLst/>
          </a:prstGeom>
          <a:solidFill>
            <a:srgbClr val="117A65"/>
          </a:solidFill>
          <a:ln/>
        </p:spPr>
      </p:sp>
      <p:sp>
        <p:nvSpPr>
          <p:cNvPr id="14" name="Text 12"/>
          <p:cNvSpPr/>
          <p:nvPr/>
        </p:nvSpPr>
        <p:spPr>
          <a:xfrm>
            <a:off x="621792" y="4133088"/>
            <a:ext cx="7991856" cy="658368"/>
          </a:xfrm>
          <a:prstGeom prst="rect">
            <a:avLst/>
          </a:prstGeom>
          <a:noFill/>
          <a:ln/>
        </p:spPr>
        <p:txBody>
          <a:bodyPr wrap="square" rtlCol="0" anchor="ctr"/>
          <a:lstStyle/>
          <a:p>
            <a:pPr indent="0" marL="0">
              <a:buNone/>
            </a:pPr>
            <a:r>
              <a:rPr lang="en-US" sz="1100" dirty="0">
                <a:solidFill>
                  <a:srgbClr val="3D3D3D"/>
                </a:solidFill>
                <a:latin typeface="Calibri" pitchFamily="34" charset="0"/>
                <a:ea typeface="Calibri" pitchFamily="34" charset="-122"/>
                <a:cs typeface="Calibri" pitchFamily="34" charset="-120"/>
              </a:rPr>
              <a:t>All purchase amounts, city names, payment methods, and device shares were calibrated to match real benchmarks — return rates at 25%, discount usage at 33%, and mobile traffic at approximately 60%.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3 — METHODOLOGY</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Data Cleaning Pipeline</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Shape 5"/>
          <p:cNvSpPr/>
          <p:nvPr/>
        </p:nvSpPr>
        <p:spPr>
          <a:xfrm>
            <a:off x="274320" y="914400"/>
            <a:ext cx="1993392" cy="3840480"/>
          </a:xfrm>
          <a:prstGeom prst="rect">
            <a:avLst/>
          </a:prstGeom>
          <a:solidFill>
            <a:srgbClr val="1A1A2E"/>
          </a:solidFill>
          <a:ln/>
        </p:spPr>
      </p:sp>
      <p:sp>
        <p:nvSpPr>
          <p:cNvPr id="8" name="Shape 6"/>
          <p:cNvSpPr/>
          <p:nvPr/>
        </p:nvSpPr>
        <p:spPr>
          <a:xfrm>
            <a:off x="813816" y="1024128"/>
            <a:ext cx="868680" cy="868680"/>
          </a:xfrm>
          <a:prstGeom prst="oval">
            <a:avLst/>
          </a:prstGeom>
          <a:solidFill>
            <a:srgbClr val="FFFFFF"/>
          </a:solidFill>
          <a:ln/>
        </p:spPr>
      </p:sp>
      <p:sp>
        <p:nvSpPr>
          <p:cNvPr id="9" name="Text 7"/>
          <p:cNvSpPr/>
          <p:nvPr/>
        </p:nvSpPr>
        <p:spPr>
          <a:xfrm>
            <a:off x="813816" y="1024128"/>
            <a:ext cx="868680" cy="868680"/>
          </a:xfrm>
          <a:prstGeom prst="rect">
            <a:avLst/>
          </a:prstGeom>
          <a:noFill/>
          <a:ln/>
        </p:spPr>
        <p:txBody>
          <a:bodyPr wrap="square"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1</a:t>
            </a:r>
            <a:endParaRPr lang="en-US" sz="2600" dirty="0"/>
          </a:p>
        </p:txBody>
      </p:sp>
      <p:sp>
        <p:nvSpPr>
          <p:cNvPr id="10" name="Text 8"/>
          <p:cNvSpPr/>
          <p:nvPr/>
        </p:nvSpPr>
        <p:spPr>
          <a:xfrm>
            <a:off x="365760" y="2029968"/>
            <a:ext cx="1828800" cy="59436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Remove Duplicates</a:t>
            </a:r>
            <a:endParaRPr lang="en-US" sz="1150" dirty="0"/>
          </a:p>
        </p:txBody>
      </p:sp>
      <p:sp>
        <p:nvSpPr>
          <p:cNvPr id="11" name="Text 9"/>
          <p:cNvSpPr/>
          <p:nvPr/>
        </p:nvSpPr>
        <p:spPr>
          <a:xfrm>
            <a:off x="365760" y="2724912"/>
            <a:ext cx="1828800" cy="1737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Data → Remove Duplicates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Primary key: Customer_ID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Result: 0 duplicates found</a:t>
            </a:r>
            <a:endParaRPr lang="en-US" sz="1000" dirty="0"/>
          </a:p>
        </p:txBody>
      </p:sp>
      <p:sp>
        <p:nvSpPr>
          <p:cNvPr id="12" name="Text 10"/>
          <p:cNvSpPr/>
          <p:nvPr/>
        </p:nvSpPr>
        <p:spPr>
          <a:xfrm>
            <a:off x="2286000" y="2487168"/>
            <a:ext cx="201168" cy="274320"/>
          </a:xfrm>
          <a:prstGeom prst="rect">
            <a:avLst/>
          </a:prstGeom>
          <a:noFill/>
          <a:ln/>
        </p:spPr>
        <p:txBody>
          <a:bodyPr wrap="square" rtlCol="0" anchor="ctr"/>
          <a:lstStyle/>
          <a:p>
            <a:pPr algn="ctr" indent="0" marL="0">
              <a:buNone/>
            </a:pPr>
            <a:r>
              <a:rPr lang="en-US" sz="1400" dirty="0">
                <a:solidFill>
                  <a:srgbClr val="888888"/>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2450592" y="914400"/>
            <a:ext cx="1993392" cy="3840480"/>
          </a:xfrm>
          <a:prstGeom prst="rect">
            <a:avLst/>
          </a:prstGeom>
          <a:solidFill>
            <a:srgbClr val="0F3460"/>
          </a:solidFill>
          <a:ln/>
        </p:spPr>
      </p:sp>
      <p:sp>
        <p:nvSpPr>
          <p:cNvPr id="14" name="Shape 12"/>
          <p:cNvSpPr/>
          <p:nvPr/>
        </p:nvSpPr>
        <p:spPr>
          <a:xfrm>
            <a:off x="2990088" y="1024128"/>
            <a:ext cx="868680" cy="868680"/>
          </a:xfrm>
          <a:prstGeom prst="oval">
            <a:avLst/>
          </a:prstGeom>
          <a:solidFill>
            <a:srgbClr val="FFFFFF"/>
          </a:solidFill>
          <a:ln/>
        </p:spPr>
      </p:sp>
      <p:sp>
        <p:nvSpPr>
          <p:cNvPr id="15" name="Text 13"/>
          <p:cNvSpPr/>
          <p:nvPr/>
        </p:nvSpPr>
        <p:spPr>
          <a:xfrm>
            <a:off x="2990088" y="1024128"/>
            <a:ext cx="868680" cy="868680"/>
          </a:xfrm>
          <a:prstGeom prst="rect">
            <a:avLst/>
          </a:prstGeom>
          <a:noFill/>
          <a:ln/>
        </p:spPr>
        <p:txBody>
          <a:bodyPr wrap="square" rtlCol="0" anchor="ctr"/>
          <a:lstStyle/>
          <a:p>
            <a:pPr algn="ctr" indent="0" marL="0">
              <a:buNone/>
            </a:pPr>
            <a:r>
              <a:rPr lang="en-US" sz="2600" b="1" dirty="0">
                <a:solidFill>
                  <a:srgbClr val="0F3460"/>
                </a:solidFill>
                <a:latin typeface="Calibri" pitchFamily="34" charset="0"/>
                <a:ea typeface="Calibri" pitchFamily="34" charset="-122"/>
                <a:cs typeface="Calibri" pitchFamily="34" charset="-120"/>
              </a:rPr>
              <a:t>2</a:t>
            </a:r>
            <a:endParaRPr lang="en-US" sz="2600" dirty="0"/>
          </a:p>
        </p:txBody>
      </p:sp>
      <p:sp>
        <p:nvSpPr>
          <p:cNvPr id="16" name="Text 14"/>
          <p:cNvSpPr/>
          <p:nvPr/>
        </p:nvSpPr>
        <p:spPr>
          <a:xfrm>
            <a:off x="2542032" y="2029968"/>
            <a:ext cx="1828800" cy="59436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Handle Missing Values</a:t>
            </a:r>
            <a:endParaRPr lang="en-US" sz="1150" dirty="0"/>
          </a:p>
        </p:txBody>
      </p:sp>
      <p:sp>
        <p:nvSpPr>
          <p:cNvPr id="17" name="Text 15"/>
          <p:cNvSpPr/>
          <p:nvPr/>
        </p:nvSpPr>
        <p:spPr>
          <a:xfrm>
            <a:off x="2542032" y="2724912"/>
            <a:ext cx="1828800" cy="1737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COUNTBLANK() to detect gaps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Numeric: fill with AVERAGE()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Text: replace with 'Unknown'</a:t>
            </a:r>
            <a:endParaRPr lang="en-US" sz="1000" dirty="0"/>
          </a:p>
        </p:txBody>
      </p:sp>
      <p:sp>
        <p:nvSpPr>
          <p:cNvPr id="18" name="Text 16"/>
          <p:cNvSpPr/>
          <p:nvPr/>
        </p:nvSpPr>
        <p:spPr>
          <a:xfrm>
            <a:off x="4462272" y="2487168"/>
            <a:ext cx="201168" cy="274320"/>
          </a:xfrm>
          <a:prstGeom prst="rect">
            <a:avLst/>
          </a:prstGeom>
          <a:noFill/>
          <a:ln/>
        </p:spPr>
        <p:txBody>
          <a:bodyPr wrap="square" rtlCol="0" anchor="ctr"/>
          <a:lstStyle/>
          <a:p>
            <a:pPr algn="ctr" indent="0" marL="0">
              <a:buNone/>
            </a:pPr>
            <a:r>
              <a:rPr lang="en-US" sz="1400" dirty="0">
                <a:solidFill>
                  <a:srgbClr val="888888"/>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4626864" y="914400"/>
            <a:ext cx="1993392" cy="3840480"/>
          </a:xfrm>
          <a:prstGeom prst="rect">
            <a:avLst/>
          </a:prstGeom>
          <a:solidFill>
            <a:srgbClr val="117A65"/>
          </a:solidFill>
          <a:ln/>
        </p:spPr>
      </p:sp>
      <p:sp>
        <p:nvSpPr>
          <p:cNvPr id="20" name="Shape 18"/>
          <p:cNvSpPr/>
          <p:nvPr/>
        </p:nvSpPr>
        <p:spPr>
          <a:xfrm>
            <a:off x="5166360" y="1024128"/>
            <a:ext cx="868680" cy="868680"/>
          </a:xfrm>
          <a:prstGeom prst="oval">
            <a:avLst/>
          </a:prstGeom>
          <a:solidFill>
            <a:srgbClr val="FFFFFF"/>
          </a:solidFill>
          <a:ln/>
        </p:spPr>
      </p:sp>
      <p:sp>
        <p:nvSpPr>
          <p:cNvPr id="21" name="Text 19"/>
          <p:cNvSpPr/>
          <p:nvPr/>
        </p:nvSpPr>
        <p:spPr>
          <a:xfrm>
            <a:off x="5166360" y="1024128"/>
            <a:ext cx="868680" cy="868680"/>
          </a:xfrm>
          <a:prstGeom prst="rect">
            <a:avLst/>
          </a:prstGeom>
          <a:noFill/>
          <a:ln/>
        </p:spPr>
        <p:txBody>
          <a:bodyPr wrap="square" rtlCol="0" anchor="ctr"/>
          <a:lstStyle/>
          <a:p>
            <a:pPr algn="ctr" indent="0" marL="0">
              <a:buNone/>
            </a:pPr>
            <a:r>
              <a:rPr lang="en-US" sz="2600" b="1" dirty="0">
                <a:solidFill>
                  <a:srgbClr val="117A65"/>
                </a:solidFill>
                <a:latin typeface="Calibri" pitchFamily="34" charset="0"/>
                <a:ea typeface="Calibri" pitchFamily="34" charset="-122"/>
                <a:cs typeface="Calibri" pitchFamily="34" charset="-120"/>
              </a:rPr>
              <a:t>3</a:t>
            </a:r>
            <a:endParaRPr lang="en-US" sz="2600" dirty="0"/>
          </a:p>
        </p:txBody>
      </p:sp>
      <p:sp>
        <p:nvSpPr>
          <p:cNvPr id="22" name="Text 20"/>
          <p:cNvSpPr/>
          <p:nvPr/>
        </p:nvSpPr>
        <p:spPr>
          <a:xfrm>
            <a:off x="4718304" y="2029968"/>
            <a:ext cx="1828800" cy="59436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Standardize Formats</a:t>
            </a:r>
            <a:endParaRPr lang="en-US" sz="1150" dirty="0"/>
          </a:p>
        </p:txBody>
      </p:sp>
      <p:sp>
        <p:nvSpPr>
          <p:cNvPr id="23" name="Text 21"/>
          <p:cNvSpPr/>
          <p:nvPr/>
        </p:nvSpPr>
        <p:spPr>
          <a:xfrm>
            <a:off x="4718304" y="2724912"/>
            <a:ext cx="1828800" cy="1737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Dates → DD-MMM-YYYY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Currency → #,##0.00</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Text → =PROPER(TRIM())</a:t>
            </a:r>
            <a:endParaRPr lang="en-US" sz="1000" dirty="0"/>
          </a:p>
        </p:txBody>
      </p:sp>
      <p:sp>
        <p:nvSpPr>
          <p:cNvPr id="24" name="Text 22"/>
          <p:cNvSpPr/>
          <p:nvPr/>
        </p:nvSpPr>
        <p:spPr>
          <a:xfrm>
            <a:off x="6638544" y="2487168"/>
            <a:ext cx="201168" cy="274320"/>
          </a:xfrm>
          <a:prstGeom prst="rect">
            <a:avLst/>
          </a:prstGeom>
          <a:noFill/>
          <a:ln/>
        </p:spPr>
        <p:txBody>
          <a:bodyPr wrap="square" rtlCol="0" anchor="ctr"/>
          <a:lstStyle/>
          <a:p>
            <a:pPr algn="ctr" indent="0" marL="0">
              <a:buNone/>
            </a:pPr>
            <a:r>
              <a:rPr lang="en-US" sz="1400" dirty="0">
                <a:solidFill>
                  <a:srgbClr val="888888"/>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6803136" y="914400"/>
            <a:ext cx="1993392" cy="3840480"/>
          </a:xfrm>
          <a:prstGeom prst="rect">
            <a:avLst/>
          </a:prstGeom>
          <a:solidFill>
            <a:srgbClr val="C0392B"/>
          </a:solidFill>
          <a:ln/>
        </p:spPr>
      </p:sp>
      <p:sp>
        <p:nvSpPr>
          <p:cNvPr id="26" name="Shape 24"/>
          <p:cNvSpPr/>
          <p:nvPr/>
        </p:nvSpPr>
        <p:spPr>
          <a:xfrm>
            <a:off x="7342632" y="1024128"/>
            <a:ext cx="868680" cy="868680"/>
          </a:xfrm>
          <a:prstGeom prst="oval">
            <a:avLst/>
          </a:prstGeom>
          <a:solidFill>
            <a:srgbClr val="FFFFFF"/>
          </a:solidFill>
          <a:ln/>
        </p:spPr>
      </p:sp>
      <p:sp>
        <p:nvSpPr>
          <p:cNvPr id="27" name="Text 25"/>
          <p:cNvSpPr/>
          <p:nvPr/>
        </p:nvSpPr>
        <p:spPr>
          <a:xfrm>
            <a:off x="7342632" y="1024128"/>
            <a:ext cx="868680" cy="868680"/>
          </a:xfrm>
          <a:prstGeom prst="rect">
            <a:avLst/>
          </a:prstGeom>
          <a:noFill/>
          <a:ln/>
        </p:spPr>
        <p:txBody>
          <a:bodyPr wrap="square" rtlCol="0" anchor="ctr"/>
          <a:lstStyle/>
          <a:p>
            <a:pPr algn="ctr" indent="0" marL="0">
              <a:buNone/>
            </a:pPr>
            <a:r>
              <a:rPr lang="en-US" sz="2600" b="1" dirty="0">
                <a:solidFill>
                  <a:srgbClr val="C0392B"/>
                </a:solidFill>
                <a:latin typeface="Calibri" pitchFamily="34" charset="0"/>
                <a:ea typeface="Calibri" pitchFamily="34" charset="-122"/>
                <a:cs typeface="Calibri" pitchFamily="34" charset="-120"/>
              </a:rPr>
              <a:t>4</a:t>
            </a:r>
            <a:endParaRPr lang="en-US" sz="2600" dirty="0"/>
          </a:p>
        </p:txBody>
      </p:sp>
      <p:sp>
        <p:nvSpPr>
          <p:cNvPr id="28" name="Text 26"/>
          <p:cNvSpPr/>
          <p:nvPr/>
        </p:nvSpPr>
        <p:spPr>
          <a:xfrm>
            <a:off x="6894576" y="2029968"/>
            <a:ext cx="1828800" cy="59436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Data Validation Rules</a:t>
            </a:r>
            <a:endParaRPr lang="en-US" sz="1150" dirty="0"/>
          </a:p>
        </p:txBody>
      </p:sp>
      <p:sp>
        <p:nvSpPr>
          <p:cNvPr id="29" name="Text 27"/>
          <p:cNvSpPr/>
          <p:nvPr/>
        </p:nvSpPr>
        <p:spPr>
          <a:xfrm>
            <a:off x="6894576" y="2724912"/>
            <a:ext cx="1828800" cy="1737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Gender → Dropdown list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Rating → Whole number 1–5</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Amount → Decimal &gt; 0.01</a:t>
            </a:r>
            <a:endParaRPr lang="en-US" sz="1000" dirty="0"/>
          </a:p>
        </p:txBody>
      </p:sp>
      <p:sp>
        <p:nvSpPr>
          <p:cNvPr id="30" name="Shape 28"/>
          <p:cNvSpPr/>
          <p:nvPr/>
        </p:nvSpPr>
        <p:spPr>
          <a:xfrm>
            <a:off x="274320" y="4526280"/>
            <a:ext cx="8549640" cy="347472"/>
          </a:xfrm>
          <a:prstGeom prst="rect">
            <a:avLst/>
          </a:prstGeom>
          <a:solidFill>
            <a:srgbClr val="D4EDDA"/>
          </a:solidFill>
          <a:ln/>
        </p:spPr>
      </p:sp>
      <p:sp>
        <p:nvSpPr>
          <p:cNvPr id="31" name="Text 29"/>
          <p:cNvSpPr/>
          <p:nvPr/>
        </p:nvSpPr>
        <p:spPr>
          <a:xfrm>
            <a:off x="457200" y="4544568"/>
            <a:ext cx="8321040" cy="320040"/>
          </a:xfrm>
          <a:prstGeom prst="rect">
            <a:avLst/>
          </a:prstGeom>
          <a:noFill/>
          <a:ln/>
        </p:spPr>
        <p:txBody>
          <a:bodyPr wrap="square" rtlCol="0" anchor="ctr"/>
          <a:lstStyle/>
          <a:p>
            <a:pPr indent="0" marL="0">
              <a:buNone/>
            </a:pPr>
            <a:r>
              <a:rPr lang="en-US" sz="1050" b="1" dirty="0">
                <a:solidFill>
                  <a:srgbClr val="1E8449"/>
                </a:solidFill>
                <a:latin typeface="Calibri" pitchFamily="34" charset="0"/>
                <a:ea typeface="Calibri" pitchFamily="34" charset="-122"/>
                <a:cs typeface="Calibri" pitchFamily="34" charset="-120"/>
              </a:rPr>
              <a:t>✔  Result: Clean dataset — 600 complete records, 0 blanks, 0 duplicates, all formats standardized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3 — METHODOLOGY</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How We Analyzed the Data</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71323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After cleaning, the data went through two more stages: transformation and analysis. Transformation means we created those three derived columns — Age Group, Income Category, and Spending Level — using nested IF formulas. This converted raw numbers like age and income into meaningful labels that Excel's pivot tables can work with.</a:t>
            </a:r>
            <a:endParaRPr lang="en-US" sz="1150" dirty="0"/>
          </a:p>
        </p:txBody>
      </p:sp>
      <p:sp>
        <p:nvSpPr>
          <p:cNvPr id="8" name="Text 6"/>
          <p:cNvSpPr/>
          <p:nvPr/>
        </p:nvSpPr>
        <p:spPr>
          <a:xfrm>
            <a:off x="457200" y="1682496"/>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What are pivot tables and why do they matter?</a:t>
            </a:r>
            <a:endParaRPr lang="en-US" sz="1300" dirty="0"/>
          </a:p>
        </p:txBody>
      </p:sp>
      <p:sp>
        <p:nvSpPr>
          <p:cNvPr id="9" name="Text 7"/>
          <p:cNvSpPr/>
          <p:nvPr/>
        </p:nvSpPr>
        <p:spPr>
          <a:xfrm>
            <a:off x="457200" y="1993392"/>
            <a:ext cx="8229600" cy="80467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A pivot table is Excel's most powerful analysis tool. You point it at your data, drag a field into rows and a field into values, and Excel instantly summarizes everything. For example, drag Product_Category into rows and Purchase_Amount into values, and you immediately see which category earns the most. It handles hundreds of rows in seconds without writing a single formula.</a:t>
            </a:r>
            <a:endParaRPr lang="en-US" sz="1150" dirty="0"/>
          </a:p>
        </p:txBody>
      </p:sp>
      <p:sp>
        <p:nvSpPr>
          <p:cNvPr id="10" name="Text 8"/>
          <p:cNvSpPr/>
          <p:nvPr/>
        </p:nvSpPr>
        <p:spPr>
          <a:xfrm>
            <a:off x="457200" y="2889504"/>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Six questions we answered using pivot tables</a:t>
            </a:r>
            <a:endParaRPr lang="en-US" sz="1300" dirty="0"/>
          </a:p>
        </p:txBody>
      </p:sp>
      <p:sp>
        <p:nvSpPr>
          <p:cNvPr id="11" name="Text 9"/>
          <p:cNvSpPr/>
          <p:nvPr/>
        </p:nvSpPr>
        <p:spPr>
          <a:xfrm>
            <a:off x="457200" y="3218688"/>
            <a:ext cx="8229600" cy="1664208"/>
          </a:xfrm>
          <a:prstGeom prst="rect">
            <a:avLst/>
          </a:prstGeom>
          <a:noFill/>
          <a:ln/>
        </p:spPr>
        <p:txBody>
          <a:bodyPr wrap="square" rtlCol="0" anchor="t"/>
          <a:lstStyle/>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Do higher-income customers spend more per order, and by how much?</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Which age group buys the most frequently throughout the year?</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Which product category generates the highest total revenue?</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Does the payment method a customer uses affect how much they spend?</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Do men and women shop differently in terms of category and spend?</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Do desktop users spend more per order than mobile users?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3 — TRANSFORMATION</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Feature Engineering — Making Raw Data Useful</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640080"/>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Raw numbers alone are hard to group. A customer aged 27 and one aged 31 are both Young Adults — but Excel cannot know that unless we tell it. Feature engineering is the process of creating new columns from existing data to make analysis easier and more meaningful.</a:t>
            </a:r>
            <a:endParaRPr lang="en-US" sz="1150" dirty="0"/>
          </a:p>
        </p:txBody>
      </p:sp>
      <p:sp>
        <p:nvSpPr>
          <p:cNvPr id="8" name="Text 6"/>
          <p:cNvSpPr/>
          <p:nvPr/>
        </p:nvSpPr>
        <p:spPr>
          <a:xfrm>
            <a:off x="457200" y="1609344"/>
            <a:ext cx="8229600" cy="292608"/>
          </a:xfrm>
          <a:prstGeom prst="rect">
            <a:avLst/>
          </a:prstGeom>
          <a:noFill/>
          <a:ln/>
        </p:spPr>
        <p:txBody>
          <a:bodyPr wrap="square" rtlCol="0" anchor="ctr"/>
          <a:lstStyle/>
          <a:p>
            <a:pPr indent="0" marL="0">
              <a:buNone/>
            </a:pPr>
            <a:r>
              <a:rPr lang="en-US" sz="1300" b="1" dirty="0">
                <a:solidFill>
                  <a:srgbClr val="0F3460"/>
                </a:solidFill>
                <a:latin typeface="Calibri" pitchFamily="34" charset="0"/>
                <a:ea typeface="Calibri" pitchFamily="34" charset="-122"/>
                <a:cs typeface="Calibri" pitchFamily="34" charset="-120"/>
              </a:rPr>
              <a:t>Age Group</a:t>
            </a:r>
            <a:endParaRPr lang="en-US" sz="1300" dirty="0"/>
          </a:p>
        </p:txBody>
      </p:sp>
      <p:sp>
        <p:nvSpPr>
          <p:cNvPr id="9" name="Text 7"/>
          <p:cNvSpPr/>
          <p:nvPr/>
        </p:nvSpPr>
        <p:spPr>
          <a:xfrm>
            <a:off x="457200" y="1920240"/>
            <a:ext cx="8229600" cy="62179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We classified every customer into one of five age brackets: Youth (18–24), Young Adult (25–34), Middle Age (35–44), Senior Adult (45–59), and Senior (60 and above). This lets us compare purchase habits across life stages with a single pivot table rather than sorting hundreds of individual ages.</a:t>
            </a:r>
            <a:endParaRPr lang="en-US" sz="1150" dirty="0"/>
          </a:p>
        </p:txBody>
      </p:sp>
      <p:sp>
        <p:nvSpPr>
          <p:cNvPr id="10" name="Text 8"/>
          <p:cNvSpPr/>
          <p:nvPr/>
        </p:nvSpPr>
        <p:spPr>
          <a:xfrm>
            <a:off x="457200" y="2615184"/>
            <a:ext cx="8229600" cy="292608"/>
          </a:xfrm>
          <a:prstGeom prst="rect">
            <a:avLst/>
          </a:prstGeom>
          <a:noFill/>
          <a:ln/>
        </p:spPr>
        <p:txBody>
          <a:bodyPr wrap="square" rtlCol="0" anchor="ctr"/>
          <a:lstStyle/>
          <a:p>
            <a:pPr indent="0" marL="0">
              <a:buNone/>
            </a:pPr>
            <a:r>
              <a:rPr lang="en-US" sz="1300" b="1" dirty="0">
                <a:solidFill>
                  <a:srgbClr val="117A65"/>
                </a:solidFill>
                <a:latin typeface="Calibri" pitchFamily="34" charset="0"/>
                <a:ea typeface="Calibri" pitchFamily="34" charset="-122"/>
                <a:cs typeface="Calibri" pitchFamily="34" charset="-120"/>
              </a:rPr>
              <a:t>Income Category</a:t>
            </a:r>
            <a:endParaRPr lang="en-US" sz="1300" dirty="0"/>
          </a:p>
        </p:txBody>
      </p:sp>
      <p:sp>
        <p:nvSpPr>
          <p:cNvPr id="11" name="Text 9"/>
          <p:cNvSpPr/>
          <p:nvPr/>
        </p:nvSpPr>
        <p:spPr>
          <a:xfrm>
            <a:off x="457200" y="2926080"/>
            <a:ext cx="8229600" cy="56692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Annual income was grouped into five tiers from Low to High based on income brackets common in Indian socioeconomic research. This column is what reveals the near-linear relationship between income and spending — each tier spends noticeably more than the one below it.</a:t>
            </a:r>
            <a:endParaRPr lang="en-US" sz="1150" dirty="0"/>
          </a:p>
        </p:txBody>
      </p:sp>
      <p:sp>
        <p:nvSpPr>
          <p:cNvPr id="12" name="Text 10"/>
          <p:cNvSpPr/>
          <p:nvPr/>
        </p:nvSpPr>
        <p:spPr>
          <a:xfrm>
            <a:off x="457200" y="3566160"/>
            <a:ext cx="8229600" cy="292608"/>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Spending Level</a:t>
            </a:r>
            <a:endParaRPr lang="en-US" sz="1300" dirty="0"/>
          </a:p>
        </p:txBody>
      </p:sp>
      <p:sp>
        <p:nvSpPr>
          <p:cNvPr id="13" name="Text 11"/>
          <p:cNvSpPr/>
          <p:nvPr/>
        </p:nvSpPr>
        <p:spPr>
          <a:xfrm>
            <a:off x="457200" y="3877056"/>
            <a:ext cx="8229600" cy="62179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Each transaction was labelled as Low, Medium, High, or Premium based on the purchase amount. This makes it easy to see that Electronics and Automotive purchases are almost entirely in the High and Premium tiers, while Grocery and Books sit almost entirely in the Low tier — a pattern invisible without this column.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4 — WHO SPENDS MORE?</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Demographic Spending Analysis</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274320" y="868680"/>
            <a:ext cx="5029200" cy="29260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Avg Spend by Age Group (₹)</a:t>
            </a:r>
            <a:endParaRPr lang="en-US" sz="1200" dirty="0"/>
          </a:p>
        </p:txBody>
      </p:sp>
      <p:graphicFrame>
        <p:nvGraphicFramePr>
          <p:cNvPr id="8" name="Chart 0" descr=""/>
          <p:cNvGraphicFramePr/>
          <p:nvPr/>
        </p:nvGraphicFramePr>
        <p:xfrm>
          <a:off x="274320" y="1170432"/>
          <a:ext cx="5029200" cy="2834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577840" y="868680"/>
            <a:ext cx="3291840" cy="29260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Income vs Avg Spend</a:t>
            </a:r>
            <a:endParaRPr lang="en-US" sz="1200" dirty="0"/>
          </a:p>
        </p:txBody>
      </p:sp>
      <p:sp>
        <p:nvSpPr>
          <p:cNvPr id="10" name="Shape 7"/>
          <p:cNvSpPr/>
          <p:nvPr/>
        </p:nvSpPr>
        <p:spPr>
          <a:xfrm>
            <a:off x="5577840" y="1170432"/>
            <a:ext cx="3291840" cy="594360"/>
          </a:xfrm>
          <a:prstGeom prst="rect">
            <a:avLst/>
          </a:prstGeom>
          <a:solidFill>
            <a:srgbClr val="F4F4F4"/>
          </a:solidFill>
          <a:ln/>
        </p:spPr>
      </p:sp>
      <p:sp>
        <p:nvSpPr>
          <p:cNvPr id="11" name="Text 8"/>
          <p:cNvSpPr/>
          <p:nvPr/>
        </p:nvSpPr>
        <p:spPr>
          <a:xfrm>
            <a:off x="5669280" y="1207008"/>
            <a:ext cx="1828800" cy="502920"/>
          </a:xfrm>
          <a:prstGeom prst="rect">
            <a:avLst/>
          </a:prstGeom>
          <a:noFill/>
          <a:ln/>
        </p:spPr>
        <p:txBody>
          <a:bodyPr wrap="square" rtlCol="0" anchor="ctr"/>
          <a:lstStyle/>
          <a:p>
            <a:pPr indent="0" marL="0">
              <a:buNone/>
            </a:pPr>
            <a:r>
              <a:rPr lang="en-US" sz="950" dirty="0">
                <a:solidFill>
                  <a:srgbClr val="3D3D3D"/>
                </a:solidFill>
                <a:latin typeface="Calibri" pitchFamily="34" charset="0"/>
                <a:ea typeface="Calibri" pitchFamily="34" charset="-122"/>
                <a:cs typeface="Calibri" pitchFamily="34" charset="-120"/>
              </a:rPr>
              <a:t>Low (&lt;3L)</a:t>
            </a:r>
            <a:endParaRPr lang="en-US" sz="950" dirty="0"/>
          </a:p>
        </p:txBody>
      </p:sp>
      <p:sp>
        <p:nvSpPr>
          <p:cNvPr id="12" name="Text 9"/>
          <p:cNvSpPr/>
          <p:nvPr/>
        </p:nvSpPr>
        <p:spPr>
          <a:xfrm>
            <a:off x="7360920" y="1207008"/>
            <a:ext cx="868680" cy="256032"/>
          </a:xfrm>
          <a:prstGeom prst="rect">
            <a:avLst/>
          </a:prstGeom>
          <a:noFill/>
          <a:ln/>
        </p:spPr>
        <p:txBody>
          <a:bodyPr wrap="square" rtlCol="0" anchor="ctr"/>
          <a:lstStyle/>
          <a:p>
            <a:pPr algn="r" indent="0" marL="0">
              <a:buNone/>
            </a:pPr>
            <a:r>
              <a:rPr lang="en-US" sz="1100" b="1" dirty="0">
                <a:solidFill>
                  <a:srgbClr val="3D3D3D"/>
                </a:solidFill>
                <a:latin typeface="Calibri" pitchFamily="34" charset="0"/>
                <a:ea typeface="Calibri" pitchFamily="34" charset="-122"/>
                <a:cs typeface="Calibri" pitchFamily="34" charset="-120"/>
              </a:rPr>
              <a:t>₹1,840</a:t>
            </a:r>
            <a:endParaRPr lang="en-US" sz="1100" dirty="0"/>
          </a:p>
        </p:txBody>
      </p:sp>
      <p:sp>
        <p:nvSpPr>
          <p:cNvPr id="13" name="Text 10"/>
          <p:cNvSpPr/>
          <p:nvPr/>
        </p:nvSpPr>
        <p:spPr>
          <a:xfrm>
            <a:off x="7360920" y="1463040"/>
            <a:ext cx="868680" cy="228600"/>
          </a:xfrm>
          <a:prstGeom prst="rect">
            <a:avLst/>
          </a:prstGeom>
          <a:noFill/>
          <a:ln/>
        </p:spPr>
        <p:txBody>
          <a:bodyPr wrap="square" rtlCol="0" anchor="ctr"/>
          <a:lstStyle/>
          <a:p>
            <a:pPr algn="r" indent="0" marL="0">
              <a:buNone/>
            </a:pPr>
            <a:r>
              <a:rPr lang="en-US" sz="850" dirty="0">
                <a:solidFill>
                  <a:srgbClr val="3D3D3D"/>
                </a:solidFill>
                <a:latin typeface="Calibri" pitchFamily="34" charset="0"/>
                <a:ea typeface="Calibri" pitchFamily="34" charset="-122"/>
                <a:cs typeface="Calibri" pitchFamily="34" charset="-120"/>
              </a:rPr>
              <a:t>100%</a:t>
            </a:r>
            <a:endParaRPr lang="en-US" sz="850" dirty="0"/>
          </a:p>
        </p:txBody>
      </p:sp>
      <p:sp>
        <p:nvSpPr>
          <p:cNvPr id="14" name="Shape 11"/>
          <p:cNvSpPr/>
          <p:nvPr/>
        </p:nvSpPr>
        <p:spPr>
          <a:xfrm>
            <a:off x="5577840" y="1828800"/>
            <a:ext cx="3291840" cy="594360"/>
          </a:xfrm>
          <a:prstGeom prst="rect">
            <a:avLst/>
          </a:prstGeom>
          <a:solidFill>
            <a:srgbClr val="D6EAF8"/>
          </a:solidFill>
          <a:ln/>
        </p:spPr>
      </p:sp>
      <p:sp>
        <p:nvSpPr>
          <p:cNvPr id="15" name="Text 12"/>
          <p:cNvSpPr/>
          <p:nvPr/>
        </p:nvSpPr>
        <p:spPr>
          <a:xfrm>
            <a:off x="5669280" y="1865376"/>
            <a:ext cx="1828800" cy="502920"/>
          </a:xfrm>
          <a:prstGeom prst="rect">
            <a:avLst/>
          </a:prstGeom>
          <a:noFill/>
          <a:ln/>
        </p:spPr>
        <p:txBody>
          <a:bodyPr wrap="square" rtlCol="0" anchor="ctr"/>
          <a:lstStyle/>
          <a:p>
            <a:pPr indent="0" marL="0">
              <a:buNone/>
            </a:pPr>
            <a:r>
              <a:rPr lang="en-US" sz="950" dirty="0">
                <a:solidFill>
                  <a:srgbClr val="3D3D3D"/>
                </a:solidFill>
                <a:latin typeface="Calibri" pitchFamily="34" charset="0"/>
                <a:ea typeface="Calibri" pitchFamily="34" charset="-122"/>
                <a:cs typeface="Calibri" pitchFamily="34" charset="-120"/>
              </a:rPr>
              <a:t>Lower-Mid (3-6L)</a:t>
            </a:r>
            <a:endParaRPr lang="en-US" sz="950" dirty="0"/>
          </a:p>
        </p:txBody>
      </p:sp>
      <p:sp>
        <p:nvSpPr>
          <p:cNvPr id="16" name="Text 13"/>
          <p:cNvSpPr/>
          <p:nvPr/>
        </p:nvSpPr>
        <p:spPr>
          <a:xfrm>
            <a:off x="7360920" y="1865376"/>
            <a:ext cx="868680" cy="256032"/>
          </a:xfrm>
          <a:prstGeom prst="rect">
            <a:avLst/>
          </a:prstGeom>
          <a:noFill/>
          <a:ln/>
        </p:spPr>
        <p:txBody>
          <a:bodyPr wrap="square" rtlCol="0" anchor="ctr"/>
          <a:lstStyle/>
          <a:p>
            <a:pPr algn="r" indent="0" marL="0">
              <a:buNone/>
            </a:pPr>
            <a:r>
              <a:rPr lang="en-US" sz="1100" b="1" dirty="0">
                <a:solidFill>
                  <a:srgbClr val="3D3D3D"/>
                </a:solidFill>
                <a:latin typeface="Calibri" pitchFamily="34" charset="0"/>
                <a:ea typeface="Calibri" pitchFamily="34" charset="-122"/>
                <a:cs typeface="Calibri" pitchFamily="34" charset="-120"/>
              </a:rPr>
              <a:t>₹2,340</a:t>
            </a:r>
            <a:endParaRPr lang="en-US" sz="1100" dirty="0"/>
          </a:p>
        </p:txBody>
      </p:sp>
      <p:sp>
        <p:nvSpPr>
          <p:cNvPr id="17" name="Text 14"/>
          <p:cNvSpPr/>
          <p:nvPr/>
        </p:nvSpPr>
        <p:spPr>
          <a:xfrm>
            <a:off x="7360920" y="2121408"/>
            <a:ext cx="868680" cy="228600"/>
          </a:xfrm>
          <a:prstGeom prst="rect">
            <a:avLst/>
          </a:prstGeom>
          <a:noFill/>
          <a:ln/>
        </p:spPr>
        <p:txBody>
          <a:bodyPr wrap="square" rtlCol="0" anchor="ctr"/>
          <a:lstStyle/>
          <a:p>
            <a:pPr algn="r" indent="0" marL="0">
              <a:buNone/>
            </a:pPr>
            <a:r>
              <a:rPr lang="en-US" sz="850" dirty="0">
                <a:solidFill>
                  <a:srgbClr val="3D3D3D"/>
                </a:solidFill>
                <a:latin typeface="Calibri" pitchFamily="34" charset="0"/>
                <a:ea typeface="Calibri" pitchFamily="34" charset="-122"/>
                <a:cs typeface="Calibri" pitchFamily="34" charset="-120"/>
              </a:rPr>
              <a:t>127%</a:t>
            </a:r>
            <a:endParaRPr lang="en-US" sz="850" dirty="0"/>
          </a:p>
        </p:txBody>
      </p:sp>
      <p:sp>
        <p:nvSpPr>
          <p:cNvPr id="18" name="Shape 15"/>
          <p:cNvSpPr/>
          <p:nvPr/>
        </p:nvSpPr>
        <p:spPr>
          <a:xfrm>
            <a:off x="5577840" y="2487168"/>
            <a:ext cx="3291840" cy="594360"/>
          </a:xfrm>
          <a:prstGeom prst="rect">
            <a:avLst/>
          </a:prstGeom>
          <a:solidFill>
            <a:srgbClr val="A9CCE3"/>
          </a:solidFill>
          <a:ln/>
        </p:spPr>
      </p:sp>
      <p:sp>
        <p:nvSpPr>
          <p:cNvPr id="19" name="Text 16"/>
          <p:cNvSpPr/>
          <p:nvPr/>
        </p:nvSpPr>
        <p:spPr>
          <a:xfrm>
            <a:off x="5669280" y="2523744"/>
            <a:ext cx="1828800" cy="50292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Middle (6-9L)</a:t>
            </a:r>
            <a:endParaRPr lang="en-US" sz="950" dirty="0"/>
          </a:p>
        </p:txBody>
      </p:sp>
      <p:sp>
        <p:nvSpPr>
          <p:cNvPr id="20" name="Text 17"/>
          <p:cNvSpPr/>
          <p:nvPr/>
        </p:nvSpPr>
        <p:spPr>
          <a:xfrm>
            <a:off x="7360920" y="2523744"/>
            <a:ext cx="868680" cy="256032"/>
          </a:xfrm>
          <a:prstGeom prst="rect">
            <a:avLst/>
          </a:prstGeom>
          <a:noFill/>
          <a:ln/>
        </p:spPr>
        <p:txBody>
          <a:bodyPr wrap="square" rtlCol="0" anchor="ctr"/>
          <a:lstStyle/>
          <a:p>
            <a:pPr algn="r" indent="0" marL="0">
              <a:buNone/>
            </a:pPr>
            <a:r>
              <a:rPr lang="en-US" sz="1100" b="1" dirty="0">
                <a:solidFill>
                  <a:srgbClr val="1A1A2E"/>
                </a:solidFill>
                <a:latin typeface="Calibri" pitchFamily="34" charset="0"/>
                <a:ea typeface="Calibri" pitchFamily="34" charset="-122"/>
                <a:cs typeface="Calibri" pitchFamily="34" charset="-120"/>
              </a:rPr>
              <a:t>₹2,890</a:t>
            </a:r>
            <a:endParaRPr lang="en-US" sz="1100" dirty="0"/>
          </a:p>
        </p:txBody>
      </p:sp>
      <p:sp>
        <p:nvSpPr>
          <p:cNvPr id="21" name="Text 18"/>
          <p:cNvSpPr/>
          <p:nvPr/>
        </p:nvSpPr>
        <p:spPr>
          <a:xfrm>
            <a:off x="7360920" y="2779776"/>
            <a:ext cx="868680" cy="228600"/>
          </a:xfrm>
          <a:prstGeom prst="rect">
            <a:avLst/>
          </a:prstGeom>
          <a:noFill/>
          <a:ln/>
        </p:spPr>
        <p:txBody>
          <a:bodyPr wrap="square" rtlCol="0" anchor="ctr"/>
          <a:lstStyle/>
          <a:p>
            <a:pPr algn="r" indent="0" marL="0">
              <a:buNone/>
            </a:pPr>
            <a:r>
              <a:rPr lang="en-US" sz="850" dirty="0">
                <a:solidFill>
                  <a:srgbClr val="1A1A2E"/>
                </a:solidFill>
                <a:latin typeface="Calibri" pitchFamily="34" charset="0"/>
                <a:ea typeface="Calibri" pitchFamily="34" charset="-122"/>
                <a:cs typeface="Calibri" pitchFamily="34" charset="-120"/>
              </a:rPr>
              <a:t>157%</a:t>
            </a:r>
            <a:endParaRPr lang="en-US" sz="850" dirty="0"/>
          </a:p>
        </p:txBody>
      </p:sp>
      <p:sp>
        <p:nvSpPr>
          <p:cNvPr id="22" name="Shape 19"/>
          <p:cNvSpPr/>
          <p:nvPr/>
        </p:nvSpPr>
        <p:spPr>
          <a:xfrm>
            <a:off x="5577840" y="3145536"/>
            <a:ext cx="3291840" cy="594360"/>
          </a:xfrm>
          <a:prstGeom prst="rect">
            <a:avLst/>
          </a:prstGeom>
          <a:solidFill>
            <a:srgbClr val="0F3460"/>
          </a:solidFill>
          <a:ln/>
        </p:spPr>
      </p:sp>
      <p:sp>
        <p:nvSpPr>
          <p:cNvPr id="23" name="Text 20"/>
          <p:cNvSpPr/>
          <p:nvPr/>
        </p:nvSpPr>
        <p:spPr>
          <a:xfrm>
            <a:off x="5669280" y="3182112"/>
            <a:ext cx="1828800" cy="50292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Upper-Mid (9-15L)</a:t>
            </a:r>
            <a:endParaRPr lang="en-US" sz="950" dirty="0"/>
          </a:p>
        </p:txBody>
      </p:sp>
      <p:sp>
        <p:nvSpPr>
          <p:cNvPr id="24" name="Text 21"/>
          <p:cNvSpPr/>
          <p:nvPr/>
        </p:nvSpPr>
        <p:spPr>
          <a:xfrm>
            <a:off x="7360920" y="3182112"/>
            <a:ext cx="868680" cy="256032"/>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₹3,420</a:t>
            </a:r>
            <a:endParaRPr lang="en-US" sz="1100" dirty="0"/>
          </a:p>
        </p:txBody>
      </p:sp>
      <p:sp>
        <p:nvSpPr>
          <p:cNvPr id="25" name="Text 22"/>
          <p:cNvSpPr/>
          <p:nvPr/>
        </p:nvSpPr>
        <p:spPr>
          <a:xfrm>
            <a:off x="7360920" y="3438144"/>
            <a:ext cx="868680" cy="228600"/>
          </a:xfrm>
          <a:prstGeom prst="rect">
            <a:avLst/>
          </a:prstGeom>
          <a:noFill/>
          <a:ln/>
        </p:spPr>
        <p:txBody>
          <a:bodyPr wrap="square"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186%</a:t>
            </a:r>
            <a:endParaRPr lang="en-US" sz="850" dirty="0"/>
          </a:p>
        </p:txBody>
      </p:sp>
      <p:sp>
        <p:nvSpPr>
          <p:cNvPr id="26" name="Shape 23"/>
          <p:cNvSpPr/>
          <p:nvPr/>
        </p:nvSpPr>
        <p:spPr>
          <a:xfrm>
            <a:off x="5577840" y="3803904"/>
            <a:ext cx="3291840" cy="594360"/>
          </a:xfrm>
          <a:prstGeom prst="rect">
            <a:avLst/>
          </a:prstGeom>
          <a:solidFill>
            <a:srgbClr val="1A1A2E"/>
          </a:solidFill>
          <a:ln/>
        </p:spPr>
      </p:sp>
      <p:sp>
        <p:nvSpPr>
          <p:cNvPr id="27" name="Text 24"/>
          <p:cNvSpPr/>
          <p:nvPr/>
        </p:nvSpPr>
        <p:spPr>
          <a:xfrm>
            <a:off x="5669280" y="3840480"/>
            <a:ext cx="1828800" cy="50292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High (&gt;15L)</a:t>
            </a:r>
            <a:endParaRPr lang="en-US" sz="950" dirty="0"/>
          </a:p>
        </p:txBody>
      </p:sp>
      <p:sp>
        <p:nvSpPr>
          <p:cNvPr id="28" name="Text 25"/>
          <p:cNvSpPr/>
          <p:nvPr/>
        </p:nvSpPr>
        <p:spPr>
          <a:xfrm>
            <a:off x="7360920" y="3840480"/>
            <a:ext cx="868680" cy="256032"/>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₹4,180</a:t>
            </a:r>
            <a:endParaRPr lang="en-US" sz="1100" dirty="0"/>
          </a:p>
        </p:txBody>
      </p:sp>
      <p:sp>
        <p:nvSpPr>
          <p:cNvPr id="29" name="Text 26"/>
          <p:cNvSpPr/>
          <p:nvPr/>
        </p:nvSpPr>
        <p:spPr>
          <a:xfrm>
            <a:off x="7360920" y="4096512"/>
            <a:ext cx="868680" cy="228600"/>
          </a:xfrm>
          <a:prstGeom prst="rect">
            <a:avLst/>
          </a:prstGeom>
          <a:noFill/>
          <a:ln/>
        </p:spPr>
        <p:txBody>
          <a:bodyPr wrap="square"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227%</a:t>
            </a:r>
            <a:endParaRPr lang="en-US" sz="850" dirty="0"/>
          </a:p>
        </p:txBody>
      </p:sp>
      <p:sp>
        <p:nvSpPr>
          <p:cNvPr id="30" name="Shape 27"/>
          <p:cNvSpPr/>
          <p:nvPr/>
        </p:nvSpPr>
        <p:spPr>
          <a:xfrm>
            <a:off x="5577840" y="4462272"/>
            <a:ext cx="3291840" cy="457200"/>
          </a:xfrm>
          <a:prstGeom prst="rect">
            <a:avLst/>
          </a:prstGeom>
          <a:solidFill>
            <a:srgbClr val="FFF3CD"/>
          </a:solidFill>
          <a:ln/>
        </p:spPr>
      </p:sp>
      <p:sp>
        <p:nvSpPr>
          <p:cNvPr id="31" name="Text 28"/>
          <p:cNvSpPr/>
          <p:nvPr/>
        </p:nvSpPr>
        <p:spPr>
          <a:xfrm>
            <a:off x="5669280" y="4462272"/>
            <a:ext cx="3154680" cy="457200"/>
          </a:xfrm>
          <a:prstGeom prst="rect">
            <a:avLst/>
          </a:prstGeom>
          <a:noFill/>
          <a:ln/>
        </p:spPr>
        <p:txBody>
          <a:bodyPr wrap="square" rtlCol="0" anchor="ctr"/>
          <a:lstStyle/>
          <a:p>
            <a:pPr indent="0" marL="0">
              <a:buNone/>
            </a:pPr>
            <a:r>
              <a:rPr lang="en-US" sz="950" b="1" dirty="0">
                <a:solidFill>
                  <a:srgbClr val="B7770D"/>
                </a:solidFill>
                <a:latin typeface="Calibri" pitchFamily="34" charset="0"/>
                <a:ea typeface="Calibri" pitchFamily="34" charset="-122"/>
                <a:cs typeface="Calibri" pitchFamily="34" charset="-120"/>
              </a:rPr>
              <a:t>💡 High income customers spend 2.3× more per order than Low income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4 — WHICH CATEGORY SELLS MOST?</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Product Category Revenue Analysis</a:t>
            </a:r>
            <a:endParaRPr lang="en-US" sz="2700" dirty="0"/>
          </a:p>
        </p:txBody>
      </p:sp>
      <p:sp>
        <p:nvSpPr>
          <p:cNvPr id="6" name="Shape 4"/>
          <p:cNvSpPr/>
          <p:nvPr/>
        </p:nvSpPr>
        <p:spPr>
          <a:xfrm>
            <a:off x="457200" y="768096"/>
            <a:ext cx="8229600" cy="10973"/>
          </a:xfrm>
          <a:prstGeom prst="rect">
            <a:avLst/>
          </a:prstGeom>
          <a:solidFill>
            <a:srgbClr val="E0E0E0"/>
          </a:solidFill>
          <a:ln/>
        </p:spPr>
      </p:sp>
      <p:graphicFrame>
        <p:nvGraphicFramePr>
          <p:cNvPr id="7" name="Chart 0" descr=""/>
          <p:cNvGraphicFramePr/>
          <p:nvPr/>
        </p:nvGraphicFramePr>
        <p:xfrm>
          <a:off x="274320" y="914400"/>
          <a:ext cx="5303520" cy="3931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852160" y="914400"/>
            <a:ext cx="30175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Top Performers</a:t>
            </a:r>
            <a:endParaRPr lang="en-US" sz="1300" dirty="0"/>
          </a:p>
        </p:txBody>
      </p:sp>
      <p:sp>
        <p:nvSpPr>
          <p:cNvPr id="9" name="Shape 6"/>
          <p:cNvSpPr/>
          <p:nvPr/>
        </p:nvSpPr>
        <p:spPr>
          <a:xfrm>
            <a:off x="5852160" y="1298448"/>
            <a:ext cx="3017520" cy="896112"/>
          </a:xfrm>
          <a:prstGeom prst="rect">
            <a:avLst/>
          </a:prstGeom>
          <a:solidFill>
            <a:srgbClr val="1A1A2E"/>
          </a:solidFill>
          <a:ln/>
        </p:spPr>
      </p:sp>
      <p:sp>
        <p:nvSpPr>
          <p:cNvPr id="10" name="Shape 7"/>
          <p:cNvSpPr/>
          <p:nvPr/>
        </p:nvSpPr>
        <p:spPr>
          <a:xfrm>
            <a:off x="5961888" y="1444752"/>
            <a:ext cx="566928" cy="566928"/>
          </a:xfrm>
          <a:prstGeom prst="oval">
            <a:avLst/>
          </a:prstGeom>
          <a:solidFill>
            <a:srgbClr val="FFFFFF"/>
          </a:solidFill>
          <a:ln/>
        </p:spPr>
      </p:sp>
      <p:sp>
        <p:nvSpPr>
          <p:cNvPr id="11" name="Text 8"/>
          <p:cNvSpPr/>
          <p:nvPr/>
        </p:nvSpPr>
        <p:spPr>
          <a:xfrm>
            <a:off x="5961888" y="1444752"/>
            <a:ext cx="566928" cy="566928"/>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6620256" y="1353312"/>
            <a:ext cx="2176272"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Electronics</a:t>
            </a:r>
            <a:endParaRPr lang="en-US" sz="1200" dirty="0"/>
          </a:p>
        </p:txBody>
      </p:sp>
      <p:sp>
        <p:nvSpPr>
          <p:cNvPr id="13" name="Text 10"/>
          <p:cNvSpPr/>
          <p:nvPr/>
        </p:nvSpPr>
        <p:spPr>
          <a:xfrm>
            <a:off x="6620256" y="1691640"/>
            <a:ext cx="2176272" cy="22860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Rev: ₹4,31,200  |  AOV: ₹6,073  |  Orders: 71</a:t>
            </a:r>
            <a:endParaRPr lang="en-US" sz="900" dirty="0"/>
          </a:p>
        </p:txBody>
      </p:sp>
      <p:sp>
        <p:nvSpPr>
          <p:cNvPr id="14" name="Text 11"/>
          <p:cNvSpPr/>
          <p:nvPr/>
        </p:nvSpPr>
        <p:spPr>
          <a:xfrm>
            <a:off x="6620256" y="1920240"/>
            <a:ext cx="2176272" cy="219456"/>
          </a:xfrm>
          <a:prstGeom prst="rect">
            <a:avLst/>
          </a:prstGeom>
          <a:noFill/>
          <a:ln/>
        </p:spPr>
        <p:txBody>
          <a:bodyPr wrap="square" rtlCol="0" anchor="ctr"/>
          <a:lstStyle/>
          <a:p>
            <a:pPr indent="0" marL="0">
              <a:buNone/>
            </a:pPr>
            <a:r>
              <a:rPr lang="en-US" sz="900" i="1" dirty="0">
                <a:solidFill>
                  <a:srgbClr val="AADDFF"/>
                </a:solidFill>
                <a:latin typeface="Calibri" pitchFamily="34" charset="0"/>
                <a:ea typeface="Calibri" pitchFamily="34" charset="-122"/>
                <a:cs typeface="Calibri" pitchFamily="34" charset="-120"/>
              </a:rPr>
              <a:t>Highest AOV</a:t>
            </a:r>
            <a:endParaRPr lang="en-US" sz="900" dirty="0"/>
          </a:p>
        </p:txBody>
      </p:sp>
      <p:sp>
        <p:nvSpPr>
          <p:cNvPr id="15" name="Shape 12"/>
          <p:cNvSpPr/>
          <p:nvPr/>
        </p:nvSpPr>
        <p:spPr>
          <a:xfrm>
            <a:off x="5852160" y="2304288"/>
            <a:ext cx="3017520" cy="896112"/>
          </a:xfrm>
          <a:prstGeom prst="rect">
            <a:avLst/>
          </a:prstGeom>
          <a:solidFill>
            <a:srgbClr val="0F3460"/>
          </a:solidFill>
          <a:ln/>
        </p:spPr>
      </p:sp>
      <p:sp>
        <p:nvSpPr>
          <p:cNvPr id="16" name="Shape 13"/>
          <p:cNvSpPr/>
          <p:nvPr/>
        </p:nvSpPr>
        <p:spPr>
          <a:xfrm>
            <a:off x="5961888" y="2450592"/>
            <a:ext cx="566928" cy="566928"/>
          </a:xfrm>
          <a:prstGeom prst="oval">
            <a:avLst/>
          </a:prstGeom>
          <a:solidFill>
            <a:srgbClr val="FFFFFF"/>
          </a:solidFill>
          <a:ln/>
        </p:spPr>
      </p:sp>
      <p:sp>
        <p:nvSpPr>
          <p:cNvPr id="17" name="Text 14"/>
          <p:cNvSpPr/>
          <p:nvPr/>
        </p:nvSpPr>
        <p:spPr>
          <a:xfrm>
            <a:off x="5961888" y="2450592"/>
            <a:ext cx="566928" cy="566928"/>
          </a:xfrm>
          <a:prstGeom prst="rect">
            <a:avLst/>
          </a:prstGeom>
          <a:noFill/>
          <a:ln/>
        </p:spPr>
        <p:txBody>
          <a:bodyPr wrap="square" rtlCol="0" anchor="ctr"/>
          <a:lstStyle/>
          <a:p>
            <a:pPr algn="ctr" indent="0" marL="0">
              <a:buNone/>
            </a:pPr>
            <a:r>
              <a:rPr lang="en-US" sz="1800" b="1" dirty="0">
                <a:solidFill>
                  <a:srgbClr val="0F3460"/>
                </a:solidFill>
                <a:latin typeface="Calibri" pitchFamily="34" charset="0"/>
                <a:ea typeface="Calibri" pitchFamily="34" charset="-122"/>
                <a:cs typeface="Calibri" pitchFamily="34" charset="-120"/>
              </a:rPr>
              <a:t>2</a:t>
            </a:r>
            <a:endParaRPr lang="en-US" sz="1800" dirty="0"/>
          </a:p>
        </p:txBody>
      </p:sp>
      <p:sp>
        <p:nvSpPr>
          <p:cNvPr id="18" name="Text 15"/>
          <p:cNvSpPr/>
          <p:nvPr/>
        </p:nvSpPr>
        <p:spPr>
          <a:xfrm>
            <a:off x="6620256" y="2359152"/>
            <a:ext cx="2176272"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Automotive</a:t>
            </a:r>
            <a:endParaRPr lang="en-US" sz="1200" dirty="0"/>
          </a:p>
        </p:txBody>
      </p:sp>
      <p:sp>
        <p:nvSpPr>
          <p:cNvPr id="19" name="Text 16"/>
          <p:cNvSpPr/>
          <p:nvPr/>
        </p:nvSpPr>
        <p:spPr>
          <a:xfrm>
            <a:off x="6620256" y="2697480"/>
            <a:ext cx="2176272" cy="22860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Rev: ₹3,12,400  |  AOV: ₹5,481  |  Orders: 57</a:t>
            </a:r>
            <a:endParaRPr lang="en-US" sz="900" dirty="0"/>
          </a:p>
        </p:txBody>
      </p:sp>
      <p:sp>
        <p:nvSpPr>
          <p:cNvPr id="20" name="Text 17"/>
          <p:cNvSpPr/>
          <p:nvPr/>
        </p:nvSpPr>
        <p:spPr>
          <a:xfrm>
            <a:off x="6620256" y="2926080"/>
            <a:ext cx="2176272" cy="219456"/>
          </a:xfrm>
          <a:prstGeom prst="rect">
            <a:avLst/>
          </a:prstGeom>
          <a:noFill/>
          <a:ln/>
        </p:spPr>
        <p:txBody>
          <a:bodyPr wrap="square" rtlCol="0" anchor="ctr"/>
          <a:lstStyle/>
          <a:p>
            <a:pPr indent="0" marL="0">
              <a:buNone/>
            </a:pPr>
            <a:r>
              <a:rPr lang="en-US" sz="900" i="1" dirty="0">
                <a:solidFill>
                  <a:srgbClr val="AADDFF"/>
                </a:solidFill>
                <a:latin typeface="Calibri" pitchFamily="34" charset="0"/>
                <a:ea typeface="Calibri" pitchFamily="34" charset="-122"/>
                <a:cs typeface="Calibri" pitchFamily="34" charset="-120"/>
              </a:rPr>
              <a:t>Premium buyers</a:t>
            </a:r>
            <a:endParaRPr lang="en-US" sz="900" dirty="0"/>
          </a:p>
        </p:txBody>
      </p:sp>
      <p:sp>
        <p:nvSpPr>
          <p:cNvPr id="21" name="Shape 18"/>
          <p:cNvSpPr/>
          <p:nvPr/>
        </p:nvSpPr>
        <p:spPr>
          <a:xfrm>
            <a:off x="5852160" y="3310128"/>
            <a:ext cx="3017520" cy="896112"/>
          </a:xfrm>
          <a:prstGeom prst="rect">
            <a:avLst/>
          </a:prstGeom>
          <a:solidFill>
            <a:srgbClr val="117A65"/>
          </a:solidFill>
          <a:ln/>
        </p:spPr>
      </p:sp>
      <p:sp>
        <p:nvSpPr>
          <p:cNvPr id="22" name="Shape 19"/>
          <p:cNvSpPr/>
          <p:nvPr/>
        </p:nvSpPr>
        <p:spPr>
          <a:xfrm>
            <a:off x="5961888" y="3456432"/>
            <a:ext cx="566928" cy="566928"/>
          </a:xfrm>
          <a:prstGeom prst="oval">
            <a:avLst/>
          </a:prstGeom>
          <a:solidFill>
            <a:srgbClr val="FFFFFF"/>
          </a:solidFill>
          <a:ln/>
        </p:spPr>
      </p:sp>
      <p:sp>
        <p:nvSpPr>
          <p:cNvPr id="23" name="Text 20"/>
          <p:cNvSpPr/>
          <p:nvPr/>
        </p:nvSpPr>
        <p:spPr>
          <a:xfrm>
            <a:off x="5961888" y="3456432"/>
            <a:ext cx="566928" cy="566928"/>
          </a:xfrm>
          <a:prstGeom prst="rect">
            <a:avLst/>
          </a:prstGeom>
          <a:noFill/>
          <a:ln/>
        </p:spPr>
        <p:txBody>
          <a:bodyPr wrap="square" rtlCol="0" anchor="ctr"/>
          <a:lstStyle/>
          <a:p>
            <a:pPr algn="ctr" indent="0" marL="0">
              <a:buNone/>
            </a:pPr>
            <a:r>
              <a:rPr lang="en-US" sz="1800" b="1" dirty="0">
                <a:solidFill>
                  <a:srgbClr val="117A65"/>
                </a:solidFill>
                <a:latin typeface="Calibri" pitchFamily="34" charset="0"/>
                <a:ea typeface="Calibri" pitchFamily="34" charset="-122"/>
                <a:cs typeface="Calibri" pitchFamily="34" charset="-120"/>
              </a:rPr>
              <a:t>3</a:t>
            </a:r>
            <a:endParaRPr lang="en-US" sz="1800" dirty="0"/>
          </a:p>
        </p:txBody>
      </p:sp>
      <p:sp>
        <p:nvSpPr>
          <p:cNvPr id="24" name="Text 21"/>
          <p:cNvSpPr/>
          <p:nvPr/>
        </p:nvSpPr>
        <p:spPr>
          <a:xfrm>
            <a:off x="6620256" y="3364992"/>
            <a:ext cx="2176272"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Home &amp; Kitchen</a:t>
            </a:r>
            <a:endParaRPr lang="en-US" sz="1200" dirty="0"/>
          </a:p>
        </p:txBody>
      </p:sp>
      <p:sp>
        <p:nvSpPr>
          <p:cNvPr id="25" name="Text 22"/>
          <p:cNvSpPr/>
          <p:nvPr/>
        </p:nvSpPr>
        <p:spPr>
          <a:xfrm>
            <a:off x="6620256" y="3703320"/>
            <a:ext cx="2176272" cy="22860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Rev: ₹2,87,600  |  AOV: ₹4,229  |  Orders: 68</a:t>
            </a:r>
            <a:endParaRPr lang="en-US" sz="900" dirty="0"/>
          </a:p>
        </p:txBody>
      </p:sp>
      <p:sp>
        <p:nvSpPr>
          <p:cNvPr id="26" name="Text 23"/>
          <p:cNvSpPr/>
          <p:nvPr/>
        </p:nvSpPr>
        <p:spPr>
          <a:xfrm>
            <a:off x="6620256" y="3931920"/>
            <a:ext cx="2176272" cy="219456"/>
          </a:xfrm>
          <a:prstGeom prst="rect">
            <a:avLst/>
          </a:prstGeom>
          <a:noFill/>
          <a:ln/>
        </p:spPr>
        <p:txBody>
          <a:bodyPr wrap="square" rtlCol="0" anchor="ctr"/>
          <a:lstStyle/>
          <a:p>
            <a:pPr indent="0" marL="0">
              <a:buNone/>
            </a:pPr>
            <a:r>
              <a:rPr lang="en-US" sz="900" i="1" dirty="0">
                <a:solidFill>
                  <a:srgbClr val="AADDFF"/>
                </a:solidFill>
                <a:latin typeface="Calibri" pitchFamily="34" charset="0"/>
                <a:ea typeface="Calibri" pitchFamily="34" charset="-122"/>
                <a:cs typeface="Calibri" pitchFamily="34" charset="-120"/>
              </a:rPr>
              <a:t>High volume</a:t>
            </a:r>
            <a:endParaRPr lang="en-US" sz="900" dirty="0"/>
          </a:p>
        </p:txBody>
      </p:sp>
      <p:sp>
        <p:nvSpPr>
          <p:cNvPr id="27" name="Shape 24"/>
          <p:cNvSpPr/>
          <p:nvPr/>
        </p:nvSpPr>
        <p:spPr>
          <a:xfrm>
            <a:off x="5852160" y="4315968"/>
            <a:ext cx="3017520" cy="548640"/>
          </a:xfrm>
          <a:prstGeom prst="rect">
            <a:avLst/>
          </a:prstGeom>
          <a:solidFill>
            <a:srgbClr val="FFF3CD"/>
          </a:solidFill>
          <a:ln/>
        </p:spPr>
      </p:sp>
      <p:sp>
        <p:nvSpPr>
          <p:cNvPr id="28" name="Text 25"/>
          <p:cNvSpPr/>
          <p:nvPr/>
        </p:nvSpPr>
        <p:spPr>
          <a:xfrm>
            <a:off x="5943600" y="4315968"/>
            <a:ext cx="2871216" cy="548640"/>
          </a:xfrm>
          <a:prstGeom prst="rect">
            <a:avLst/>
          </a:prstGeom>
          <a:noFill/>
          <a:ln/>
        </p:spPr>
        <p:txBody>
          <a:bodyPr wrap="square" rtlCol="0" anchor="ctr"/>
          <a:lstStyle/>
          <a:p>
            <a:pPr indent="0" marL="0">
              <a:buNone/>
            </a:pPr>
            <a:r>
              <a:rPr lang="en-US" sz="900" b="1" dirty="0">
                <a:solidFill>
                  <a:srgbClr val="B7770D"/>
                </a:solidFill>
                <a:latin typeface="Calibri" pitchFamily="34" charset="0"/>
                <a:ea typeface="Calibri" pitchFamily="34" charset="-122"/>
                <a:cs typeface="Calibri" pitchFamily="34" charset="-120"/>
              </a:rPr>
              <a:t>💡 Electronics has fewer orders than Fashion (71 vs 88) but earns 2.4× more revenue due to high AOV</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4 — PAYMENT TRENDS</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Payment Method Analysis</a:t>
            </a:r>
            <a:endParaRPr lang="en-US" sz="2700" dirty="0"/>
          </a:p>
        </p:txBody>
      </p:sp>
      <p:sp>
        <p:nvSpPr>
          <p:cNvPr id="6" name="Shape 4"/>
          <p:cNvSpPr/>
          <p:nvPr/>
        </p:nvSpPr>
        <p:spPr>
          <a:xfrm>
            <a:off x="457200" y="768096"/>
            <a:ext cx="8229600" cy="10973"/>
          </a:xfrm>
          <a:prstGeom prst="rect">
            <a:avLst/>
          </a:prstGeom>
          <a:solidFill>
            <a:srgbClr val="E0E0E0"/>
          </a:solidFill>
          <a:ln/>
        </p:spPr>
      </p:sp>
      <p:graphicFrame>
        <p:nvGraphicFramePr>
          <p:cNvPr id="7" name="Chart 0" descr=""/>
          <p:cNvGraphicFramePr/>
          <p:nvPr/>
        </p:nvGraphicFramePr>
        <p:xfrm>
          <a:off x="274320" y="914400"/>
          <a:ext cx="438912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46320" y="960120"/>
          <a:ext cx="4069080" cy="2834640"/>
        </p:xfrm>
        <a:graphic>
          <a:graphicData uri="http://schemas.openxmlformats.org/drawingml/2006/table">
            <a:tbl>
              <a:tblPr/>
              <a:tblGrid>
                <a:gridCol w="1371600"/>
                <a:gridCol w="1051560"/>
                <a:gridCol w="1005840"/>
                <a:gridCol w="1005840"/>
              </a:tblGrid>
              <a:tr h="404949">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Payment</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Users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Avg Spend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Return Rate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2E"/>
                    </a:solidFill>
                  </a:tcPr>
                </a:tc>
              </a:tr>
              <a:tr h="404949">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UPI</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118 (19.7%)</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₹2,640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22.9% ✅</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4949">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Credit Card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112 (18.7%)</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₹3,290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23.2% ✅</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4949">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Debit Card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101 (16.8%)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₹2,740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25.7%</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4949">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Net Banking</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94 (15.7%)</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₹3,050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26.6%</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4949">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Cash on Delivery</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91 (15.2%)</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₹2,210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31.9% ⚠️</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4949">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Wallet</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84 (14.0%)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₹2,380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27.4%</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9" name="Shape 5"/>
          <p:cNvSpPr/>
          <p:nvPr/>
        </p:nvSpPr>
        <p:spPr>
          <a:xfrm>
            <a:off x="274320" y="4370832"/>
            <a:ext cx="8549640" cy="475488"/>
          </a:xfrm>
          <a:prstGeom prst="rect">
            <a:avLst/>
          </a:prstGeom>
          <a:solidFill>
            <a:srgbClr val="FDEDEC"/>
          </a:solidFill>
          <a:ln/>
        </p:spPr>
      </p:sp>
      <p:sp>
        <p:nvSpPr>
          <p:cNvPr id="10" name="Text 6"/>
          <p:cNvSpPr/>
          <p:nvPr/>
        </p:nvSpPr>
        <p:spPr>
          <a:xfrm>
            <a:off x="548640" y="4370832"/>
            <a:ext cx="8229600" cy="475488"/>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COD has the HIGHEST return rate (31.9%) and LOWEST avg spend (₹2,210). Shift customers to UPI/Credit Card to cut returns by 7–10 percentage points.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4 — RESULTS</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Device Usage &amp; Membership Tier</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How the device used changes spending behavior</a:t>
            </a:r>
            <a:endParaRPr lang="en-US" sz="1300" dirty="0"/>
          </a:p>
        </p:txBody>
      </p:sp>
      <p:sp>
        <p:nvSpPr>
          <p:cNvPr id="8" name="Text 6"/>
          <p:cNvSpPr/>
          <p:nvPr/>
        </p:nvSpPr>
        <p:spPr>
          <a:xfrm>
            <a:off x="457200" y="1188720"/>
            <a:ext cx="8229600" cy="80467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Most customers — nearly 59 percent — made their purchases on a mobile phone. However, desktop users spent about 28 percent more per transaction on average. The reason is straightforward: people use phones for quick, routine, and impulse purchases like fashion and groceries. When someone is buying an expensive laptop or a car part, they tend to research and checkout on a desktop where they can read more carefully and feel more confident.</a:t>
            </a:r>
            <a:endParaRPr lang="en-US" sz="1150" dirty="0"/>
          </a:p>
        </p:txBody>
      </p:sp>
      <p:sp>
        <p:nvSpPr>
          <p:cNvPr id="9" name="Text 7"/>
          <p:cNvSpPr/>
          <p:nvPr/>
        </p:nvSpPr>
        <p:spPr>
          <a:xfrm>
            <a:off x="457200" y="2084832"/>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How membership tier changes everything</a:t>
            </a:r>
            <a:endParaRPr lang="en-US" sz="1300" dirty="0"/>
          </a:p>
        </p:txBody>
      </p:sp>
      <p:sp>
        <p:nvSpPr>
          <p:cNvPr id="10" name="Text 8"/>
          <p:cNvSpPr/>
          <p:nvPr/>
        </p:nvSpPr>
        <p:spPr>
          <a:xfrm>
            <a:off x="457200" y="2395728"/>
            <a:ext cx="8229600" cy="804672"/>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Membership tier turned out to be the single strongest controllable predictor of how much a customer spends. Basic members spend the least and buy the least often. But as customers move up to Silver, Gold, and Platinum tiers, both their average spend and purchase frequency grow consistently. Platinum members spend more than twice as much per order as Basic members, and they shop nearly twice as often throughout the year.</a:t>
            </a:r>
            <a:endParaRPr lang="en-US" sz="1150" dirty="0"/>
          </a:p>
        </p:txBody>
      </p:sp>
      <p:sp>
        <p:nvSpPr>
          <p:cNvPr id="11" name="Text 9"/>
          <p:cNvSpPr/>
          <p:nvPr/>
        </p:nvSpPr>
        <p:spPr>
          <a:xfrm>
            <a:off x="457200" y="3273552"/>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Gold and Platinum members also tend to buy in the highest-value categories — Electronics and Automotive — which reinforces why loyalty programs are worth investing in. Upgrading a customer from Basic to Silver does not just increase one purchase; it shifts their entire buying pattern.</a:t>
            </a:r>
            <a:endParaRPr lang="en-US" sz="1150" dirty="0"/>
          </a:p>
        </p:txBody>
      </p:sp>
      <p:sp>
        <p:nvSpPr>
          <p:cNvPr id="12" name="Shape 10"/>
          <p:cNvSpPr/>
          <p:nvPr/>
        </p:nvSpPr>
        <p:spPr>
          <a:xfrm>
            <a:off x="457200" y="4041648"/>
            <a:ext cx="8229600" cy="777240"/>
          </a:xfrm>
          <a:prstGeom prst="rect">
            <a:avLst/>
          </a:prstGeom>
          <a:solidFill>
            <a:srgbClr val="F4F4F4"/>
          </a:solidFill>
          <a:ln w="12700">
            <a:solidFill>
              <a:srgbClr val="F4F4F4"/>
            </a:solidFill>
            <a:prstDash val="solid"/>
          </a:ln>
        </p:spPr>
      </p:sp>
      <p:sp>
        <p:nvSpPr>
          <p:cNvPr id="13" name="Shape 11"/>
          <p:cNvSpPr/>
          <p:nvPr/>
        </p:nvSpPr>
        <p:spPr>
          <a:xfrm>
            <a:off x="457200" y="4041648"/>
            <a:ext cx="54864" cy="777240"/>
          </a:xfrm>
          <a:prstGeom prst="rect">
            <a:avLst/>
          </a:prstGeom>
          <a:solidFill>
            <a:srgbClr val="0F3460"/>
          </a:solidFill>
          <a:ln/>
        </p:spPr>
      </p:sp>
      <p:sp>
        <p:nvSpPr>
          <p:cNvPr id="14" name="Text 12"/>
          <p:cNvSpPr/>
          <p:nvPr/>
        </p:nvSpPr>
        <p:spPr>
          <a:xfrm>
            <a:off x="621792" y="4114800"/>
            <a:ext cx="7991856" cy="630936"/>
          </a:xfrm>
          <a:prstGeom prst="rect">
            <a:avLst/>
          </a:prstGeom>
          <a:noFill/>
          <a:ln/>
        </p:spPr>
        <p:txBody>
          <a:bodyPr wrap="square" rtlCol="0" anchor="ctr"/>
          <a:lstStyle/>
          <a:p>
            <a:pPr indent="0" marL="0">
              <a:buNone/>
            </a:pPr>
            <a:r>
              <a:rPr lang="en-US" sz="1100" dirty="0">
                <a:solidFill>
                  <a:srgbClr val="3D3D3D"/>
                </a:solidFill>
                <a:latin typeface="Calibri" pitchFamily="34" charset="0"/>
                <a:ea typeface="Calibri" pitchFamily="34" charset="-122"/>
                <a:cs typeface="Calibri" pitchFamily="34" charset="-120"/>
              </a:rPr>
              <a:t>Key takeaway: Do not treat all customers equally. Identify Basic members who buy frequently and target them with upgrade incentives — the data shows their spending will grow with their tier.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5 — DASHBOARD</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The Interactive Excel Dashboard</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594360"/>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All the analysis in this project comes together in a single Excel sheet called the Dashboard. It was built with no programming — only formulas, pivot tables, charts, and slicers. When you click a filter, everything on the page updates instantly.</a:t>
            </a:r>
            <a:endParaRPr lang="en-US" sz="1150" dirty="0"/>
          </a:p>
        </p:txBody>
      </p:sp>
      <p:sp>
        <p:nvSpPr>
          <p:cNvPr id="8" name="Text 6"/>
          <p:cNvSpPr/>
          <p:nvPr/>
        </p:nvSpPr>
        <p:spPr>
          <a:xfrm>
            <a:off x="457200" y="1554480"/>
            <a:ext cx="822960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Zone 1 — KPI Cards at the top</a:t>
            </a:r>
            <a:endParaRPr lang="en-US" sz="1300" dirty="0"/>
          </a:p>
        </p:txBody>
      </p:sp>
      <p:sp>
        <p:nvSpPr>
          <p:cNvPr id="9" name="Text 7"/>
          <p:cNvSpPr/>
          <p:nvPr/>
        </p:nvSpPr>
        <p:spPr>
          <a:xfrm>
            <a:off x="457200" y="1865376"/>
            <a:ext cx="8229600" cy="56692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Six colored metric cards show the most important headline numbers at a glance: total customers, total revenue, average order value, top-selling category, return rate, and discount usage rate. Each card is a live formula — change the data and they update automatically.</a:t>
            </a:r>
            <a:endParaRPr lang="en-US" sz="1150" dirty="0"/>
          </a:p>
        </p:txBody>
      </p:sp>
      <p:sp>
        <p:nvSpPr>
          <p:cNvPr id="10" name="Text 8"/>
          <p:cNvSpPr/>
          <p:nvPr/>
        </p:nvSpPr>
        <p:spPr>
          <a:xfrm>
            <a:off x="457200" y="2514600"/>
            <a:ext cx="8229600" cy="292608"/>
          </a:xfrm>
          <a:prstGeom prst="rect">
            <a:avLst/>
          </a:prstGeom>
          <a:noFill/>
          <a:ln/>
        </p:spPr>
        <p:txBody>
          <a:bodyPr wrap="square" rtlCol="0" anchor="ctr"/>
          <a:lstStyle/>
          <a:p>
            <a:pPr indent="0" marL="0">
              <a:buNone/>
            </a:pPr>
            <a:r>
              <a:rPr lang="en-US" sz="1300" b="1" dirty="0">
                <a:solidFill>
                  <a:srgbClr val="0F3460"/>
                </a:solidFill>
                <a:latin typeface="Calibri" pitchFamily="34" charset="0"/>
                <a:ea typeface="Calibri" pitchFamily="34" charset="-122"/>
                <a:cs typeface="Calibri" pitchFamily="34" charset="-120"/>
              </a:rPr>
              <a:t>Zone 2 — Charts and summary tables</a:t>
            </a:r>
            <a:endParaRPr lang="en-US" sz="1300" dirty="0"/>
          </a:p>
        </p:txBody>
      </p:sp>
      <p:sp>
        <p:nvSpPr>
          <p:cNvPr id="11" name="Text 9"/>
          <p:cNvSpPr/>
          <p:nvPr/>
        </p:nvSpPr>
        <p:spPr>
          <a:xfrm>
            <a:off x="457200" y="2825496"/>
            <a:ext cx="8229600" cy="56692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A bar chart shows revenue by product category. A demographics table shows how different age groups behave. A line chart tracks how average spending changes month by month across 2024. These are all connected to the pivot tables, so they update when slicers are applied.</a:t>
            </a:r>
            <a:endParaRPr lang="en-US" sz="1150" dirty="0"/>
          </a:p>
        </p:txBody>
      </p:sp>
      <p:sp>
        <p:nvSpPr>
          <p:cNvPr id="12" name="Text 10"/>
          <p:cNvSpPr/>
          <p:nvPr/>
        </p:nvSpPr>
        <p:spPr>
          <a:xfrm>
            <a:off x="457200" y="3474720"/>
            <a:ext cx="8229600" cy="292608"/>
          </a:xfrm>
          <a:prstGeom prst="rect">
            <a:avLst/>
          </a:prstGeom>
          <a:noFill/>
          <a:ln/>
        </p:spPr>
        <p:txBody>
          <a:bodyPr wrap="square" rtlCol="0" anchor="ctr"/>
          <a:lstStyle/>
          <a:p>
            <a:pPr indent="0" marL="0">
              <a:buNone/>
            </a:pPr>
            <a:r>
              <a:rPr lang="en-US" sz="1300" b="1" dirty="0">
                <a:solidFill>
                  <a:srgbClr val="117A65"/>
                </a:solidFill>
                <a:latin typeface="Calibri" pitchFamily="34" charset="0"/>
                <a:ea typeface="Calibri" pitchFamily="34" charset="-122"/>
                <a:cs typeface="Calibri" pitchFamily="34" charset="-120"/>
              </a:rPr>
              <a:t>Zone 3 — Slicers for interactive filtering</a:t>
            </a:r>
            <a:endParaRPr lang="en-US" sz="1300" dirty="0"/>
          </a:p>
        </p:txBody>
      </p:sp>
      <p:sp>
        <p:nvSpPr>
          <p:cNvPr id="13" name="Text 11"/>
          <p:cNvSpPr/>
          <p:nvPr/>
        </p:nvSpPr>
        <p:spPr>
          <a:xfrm>
            <a:off x="457200" y="3785616"/>
            <a:ext cx="8229600" cy="65836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Four slicers let any user filter the entire dashboard without touching a formula. Click Female in the Gender slicer, and every chart, table, and KPI card updates to show female-only data. You can combine filters — for example, Female customers in Mumbai who bought Electronics — and the results appear in under a second.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5 — CONCLUSION</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What We Found &amp; What It Means</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229600" cy="56692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This project showed that a complete data science workflow — from raw data to an interactive business dashboard — can be done entirely inside Microsoft Excel. No coding, no expensive software, just disciplined use of the tools already available.</a:t>
            </a:r>
            <a:endParaRPr lang="en-US" sz="1150" dirty="0"/>
          </a:p>
        </p:txBody>
      </p:sp>
      <p:sp>
        <p:nvSpPr>
          <p:cNvPr id="8" name="Text 6"/>
          <p:cNvSpPr/>
          <p:nvPr/>
        </p:nvSpPr>
        <p:spPr>
          <a:xfrm>
            <a:off x="457200" y="1517904"/>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The five most important findings</a:t>
            </a:r>
            <a:endParaRPr lang="en-US" sz="1300" dirty="0"/>
          </a:p>
        </p:txBody>
      </p:sp>
      <p:sp>
        <p:nvSpPr>
          <p:cNvPr id="9" name="Text 7"/>
          <p:cNvSpPr/>
          <p:nvPr/>
        </p:nvSpPr>
        <p:spPr>
          <a:xfrm>
            <a:off x="457200" y="1847088"/>
            <a:ext cx="8229600" cy="2423160"/>
          </a:xfrm>
          <a:prstGeom prst="rect">
            <a:avLst/>
          </a:prstGeom>
          <a:noFill/>
          <a:ln/>
        </p:spPr>
        <p:txBody>
          <a:bodyPr wrap="square" rtlCol="0" anchor="t"/>
          <a:lstStyle/>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Electronics leads all categories in total revenue, not because it has the most orders, but because each order is worth significantly more than in any other category.</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Young Adults aged 25 to 34 are the most commercially valuable segment. They do not spend the most per order, but they buy the most frequently — giving them the highest lifetime value.</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Cash on Delivery has the highest return rate of all payment methods. Customers who pay upfront through UPI or Credit Card are far more committed to their purchases.</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Membership tier predicts spending more reliably than age, gender, or city. Platinum members spend over twice as much and shop nearly twice as often as Basic members.</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Desktop users spend more per order, while mobile users drive volume. A good e-commerce strategy treats them differently — premium products on desktop, fast deals on mobile.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1A2E"/>
          </a:solidFill>
          <a:ln/>
        </p:spPr>
      </p:sp>
      <p:sp>
        <p:nvSpPr>
          <p:cNvPr id="3" name="Text 1"/>
          <p:cNvSpPr/>
          <p:nvPr/>
        </p:nvSpPr>
        <p:spPr>
          <a:xfrm>
            <a:off x="658368" y="73152"/>
            <a:ext cx="8229600" cy="128016"/>
          </a:xfrm>
          <a:prstGeom prst="rect">
            <a:avLst/>
          </a:prstGeom>
          <a:noFill/>
          <a:ln/>
        </p:spPr>
        <p:txBody>
          <a:bodyPr wrap="square" rtlCol="0" anchor="ctr"/>
          <a:lstStyle/>
          <a:p>
            <a:pPr indent="0" marL="0">
              <a:buNone/>
            </a:pPr>
            <a:r>
              <a:rPr lang="en-US" sz="750" spc="250" kern="0" dirty="0">
                <a:solidFill>
                  <a:srgbClr val="888888"/>
                </a:solidFill>
                <a:latin typeface="Calibri" pitchFamily="34" charset="0"/>
                <a:ea typeface="Calibri" pitchFamily="34" charset="-122"/>
                <a:cs typeface="Calibri" pitchFamily="34" charset="-120"/>
              </a:rPr>
              <a:t>CHAPTER 5 — FUTURE WORK</a:t>
            </a:r>
            <a:endParaRPr lang="en-US" sz="750" dirty="0"/>
          </a:p>
        </p:txBody>
      </p:sp>
      <p:sp>
        <p:nvSpPr>
          <p:cNvPr id="4" name="Shape 2"/>
          <p:cNvSpPr/>
          <p:nvPr/>
        </p:nvSpPr>
        <p:spPr>
          <a:xfrm>
            <a:off x="457200" y="182880"/>
            <a:ext cx="64008" cy="502920"/>
          </a:xfrm>
          <a:prstGeom prst="rect">
            <a:avLst/>
          </a:prstGeom>
          <a:solidFill>
            <a:srgbClr val="0F3460"/>
          </a:solidFill>
          <a:ln/>
        </p:spPr>
      </p:sp>
      <p:sp>
        <p:nvSpPr>
          <p:cNvPr id="5" name="Text 3"/>
          <p:cNvSpPr/>
          <p:nvPr/>
        </p:nvSpPr>
        <p:spPr>
          <a:xfrm>
            <a:off x="658368" y="164592"/>
            <a:ext cx="8046720" cy="548640"/>
          </a:xfrm>
          <a:prstGeom prst="rect">
            <a:avLst/>
          </a:prstGeom>
          <a:noFill/>
          <a:ln/>
        </p:spPr>
        <p:txBody>
          <a:bodyPr wrap="square" rtlCol="0" anchor="ctr"/>
          <a:lstStyle/>
          <a:p>
            <a:pPr indent="0" marL="0">
              <a:buNone/>
            </a:pPr>
            <a:r>
              <a:rPr lang="en-US" sz="2700" b="1" dirty="0">
                <a:solidFill>
                  <a:srgbClr val="1A1A2E"/>
                </a:solidFill>
                <a:latin typeface="Calibri" pitchFamily="34" charset="0"/>
                <a:ea typeface="Calibri" pitchFamily="34" charset="-122"/>
                <a:cs typeface="Calibri" pitchFamily="34" charset="-120"/>
              </a:rPr>
              <a:t>Limitations &amp; What Could Come Next</a:t>
            </a:r>
            <a:endParaRPr lang="en-US" sz="2700" dirty="0"/>
          </a:p>
        </p:txBody>
      </p:sp>
      <p:sp>
        <p:nvSpPr>
          <p:cNvPr id="6" name="Shape 4"/>
          <p:cNvSpPr/>
          <p:nvPr/>
        </p:nvSpPr>
        <p:spPr>
          <a:xfrm>
            <a:off x="457200" y="768096"/>
            <a:ext cx="8229600" cy="10973"/>
          </a:xfrm>
          <a:prstGeom prst="rect">
            <a:avLst/>
          </a:prstGeom>
          <a:solidFill>
            <a:srgbClr val="E0E0E0"/>
          </a:solidFill>
          <a:ln/>
        </p:spPr>
      </p:sp>
      <p:sp>
        <p:nvSpPr>
          <p:cNvPr id="7" name="Text 5"/>
          <p:cNvSpPr/>
          <p:nvPr/>
        </p:nvSpPr>
        <p:spPr>
          <a:xfrm>
            <a:off x="457200" y="877824"/>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Where this project has limits</a:t>
            </a:r>
            <a:endParaRPr lang="en-US" sz="1300" dirty="0"/>
          </a:p>
        </p:txBody>
      </p:sp>
      <p:sp>
        <p:nvSpPr>
          <p:cNvPr id="8" name="Text 6"/>
          <p:cNvSpPr/>
          <p:nvPr/>
        </p:nvSpPr>
        <p:spPr>
          <a:xfrm>
            <a:off x="457200" y="1188720"/>
            <a:ext cx="8229600" cy="749808"/>
          </a:xfrm>
          <a:prstGeom prst="rect">
            <a:avLst/>
          </a:prstGeom>
          <a:noFill/>
          <a:ln/>
        </p:spPr>
        <p:txBody>
          <a:bodyPr wrap="square" rtlCol="0" anchor="t"/>
          <a:lstStyle/>
          <a:p>
            <a:pPr algn="l" indent="0" marL="0">
              <a:buNone/>
            </a:pPr>
            <a:r>
              <a:rPr lang="en-US" sz="1150" dirty="0">
                <a:solidFill>
                  <a:srgbClr val="3D3D3D"/>
                </a:solidFill>
                <a:latin typeface="Calibri" pitchFamily="34" charset="0"/>
                <a:ea typeface="Calibri" pitchFamily="34" charset="-122"/>
                <a:cs typeface="Calibri" pitchFamily="34" charset="-120"/>
              </a:rPr>
              <a:t>The dataset is synthetic, which means the patterns we found are realistic but not guaranteed to match any specific real business. Excel also has a natural ceiling — it handles around one million rows before it slows down, and it cannot build predictive models on its own. This project is also a snapshot of a single year, so seasonal trends and customer lifetime patterns cannot be studied from this data alone.</a:t>
            </a:r>
            <a:endParaRPr lang="en-US" sz="1150" dirty="0"/>
          </a:p>
        </p:txBody>
      </p:sp>
      <p:sp>
        <p:nvSpPr>
          <p:cNvPr id="9" name="Text 7"/>
          <p:cNvSpPr/>
          <p:nvPr/>
        </p:nvSpPr>
        <p:spPr>
          <a:xfrm>
            <a:off x="457200" y="2029968"/>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The natural next steps</a:t>
            </a:r>
            <a:endParaRPr lang="en-US" sz="1300" dirty="0"/>
          </a:p>
        </p:txBody>
      </p:sp>
      <p:sp>
        <p:nvSpPr>
          <p:cNvPr id="10" name="Text 8"/>
          <p:cNvSpPr/>
          <p:nvPr/>
        </p:nvSpPr>
        <p:spPr>
          <a:xfrm>
            <a:off x="457200" y="2377440"/>
            <a:ext cx="8229600" cy="2423160"/>
          </a:xfrm>
          <a:prstGeom prst="rect">
            <a:avLst/>
          </a:prstGeom>
          <a:noFill/>
          <a:ln/>
        </p:spPr>
        <p:txBody>
          <a:bodyPr wrap="square" rtlCol="0" anchor="t"/>
          <a:lstStyle/>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Move to Python with pandas and scikit-learn to build actual prediction models — for example, predicting which customers are likely to stop buying, or what a customer will purchase next.</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Implement a formal RFM scoring system that automatically labels every customer as a Champion, Loyal, At-Risk, or Lost based on their recent behavior.</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Build a recommendation engine using collaborative filtering — if two customers have similar buying history, suggest to each what the other bought.</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Migrate the dashboard to Power BI or Tableau for real-time data refresh, cloud sharing, and more advanced visual storytelling.</a:t>
            </a:r>
            <a:endParaRPr lang="en-US" sz="1150" dirty="0"/>
          </a:p>
          <a:p>
            <a:pPr algn="l" marL="190500" indent="-190500">
              <a:spcAft>
                <a:spcPts val="600"/>
              </a:spcAft>
              <a:buSzPct val="100000"/>
              <a:buChar char="•"/>
            </a:pPr>
            <a:r>
              <a:rPr lang="en-US" sz="1150" dirty="0">
                <a:solidFill>
                  <a:srgbClr val="3D3D3D"/>
                </a:solidFill>
                <a:latin typeface="Calibri" pitchFamily="34" charset="0"/>
                <a:ea typeface="Calibri" pitchFamily="34" charset="-122"/>
                <a:cs typeface="Calibri" pitchFamily="34" charset="-120"/>
              </a:rPr>
              <a:t>Use a large language model to automatically write plain-English insight summaries from the pivot table output — turning a table of numbers into a readable paragraph in seconds.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noFill/>
          <a:ln/>
        </p:spPr>
        <p:txBody>
          <a:bodyPr wrap="square" rtlCol="0" anchor="ctr"/>
          <a:lstStyle/>
          <a:p>
            <a:pPr algn="ctr" indent="0" marL="0">
              <a:buNone/>
            </a:pPr>
            <a:r>
              <a:rPr lang="en-US" sz="5200" b="1" dirty="0">
                <a:solidFill>
                  <a:srgbClr val="1A1A2E"/>
                </a:solidFill>
                <a:latin typeface="Calibri" pitchFamily="34" charset="0"/>
                <a:ea typeface="Calibri" pitchFamily="34" charset="-122"/>
                <a:cs typeface="Calibri" pitchFamily="34" charset="-120"/>
              </a:rPr>
              <a:t>Thank You</a:t>
            </a:r>
            <a:endParaRPr lang="en-US" sz="5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Shopping Customer Behavior Analysis</dc:title>
  <dc:subject>PptxGenJS Presentation</dc:subject>
  <dc:creator>Savio Tito</dc:creator>
  <cp:lastModifiedBy>Savio Tito</cp:lastModifiedBy>
  <cp:revision>1</cp:revision>
  <dcterms:created xsi:type="dcterms:W3CDTF">2026-04-15T18:11:05Z</dcterms:created>
  <dcterms:modified xsi:type="dcterms:W3CDTF">2026-04-15T18:11:05Z</dcterms:modified>
</cp:coreProperties>
</file>